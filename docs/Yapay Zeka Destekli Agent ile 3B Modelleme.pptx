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0C5E44-6183-45A7-A841-18A8F109E4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037E40-5CF5-4D82-8613-BDBF1939C7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B08A9F-B2EB-4919-BDA8-07A1F198D1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363D0D-0B03-42FC-9C2E-49214DED78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0FBA32-ED08-46AF-90EA-73FD27C2E5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E61B6F-D4EC-4965-A628-413F4FB1B1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53F8A3-A16C-4762-94BB-65A0B8FE05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4DD48C-EE62-41A1-AFBB-EBDC5F828C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9E1298-5601-4F2A-9256-3185281FE4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 başlık metnini düzenlemek için tıklayın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DC9B14-3B0A-4666-80BC-12600E7B66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7E4A91-B990-448B-A2D1-BE26956761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8595360" y="-2011680"/>
            <a:ext cx="5943240" cy="59432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Oval 3"/>
          <p:cNvSpPr/>
          <p:nvPr/>
        </p:nvSpPr>
        <p:spPr>
          <a:xfrm>
            <a:off x="10058400" y="3291840"/>
            <a:ext cx="5028840" cy="5028840"/>
          </a:xfrm>
          <a:prstGeom prst="ellipse">
            <a:avLst/>
          </a:prstGeom>
          <a:solidFill>
            <a:srgbClr val="14396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Oval 4"/>
          <p:cNvSpPr/>
          <p:nvPr/>
        </p:nvSpPr>
        <p:spPr>
          <a:xfrm>
            <a:off x="-1280160" y="4572000"/>
            <a:ext cx="3840120" cy="3840120"/>
          </a:xfrm>
          <a:prstGeom prst="ellipse">
            <a:avLst/>
          </a:prstGeom>
          <a:solidFill>
            <a:srgbClr val="14396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822960" y="7772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MARMARA ÜNİVERSİTESİ  ·  TEKNOLOJİ FAKÜLTESİ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822960" y="11156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B9CBE0"/>
                </a:solidFill>
                <a:effectLst/>
                <a:uFillTx/>
                <a:latin typeface="Calibri"/>
              </a:rPr>
              <a:t>BİLGİSAYAR MÜHENDİSLİĞİ BÖLÜMÜ — BİTİRME PROJESİ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822960" y="2148840"/>
            <a:ext cx="100580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Yapay Zeka Destekli Agent ile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5200" b="1" u="none" strike="noStrike">
                <a:solidFill>
                  <a:srgbClr val="F2A52E"/>
                </a:solidFill>
                <a:effectLst/>
                <a:uFillTx/>
                <a:latin typeface="Calibri"/>
              </a:rPr>
              <a:t>3B Modelleme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841320" y="4160520"/>
            <a:ext cx="9509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D6E3F2"/>
                </a:solidFill>
                <a:effectLst/>
                <a:uFillTx/>
                <a:latin typeface="Calibri"/>
              </a:rPr>
              <a:t>Doğal dil ile ifade edilen iç mekân tasarım isteklerini, çok-ajanlı yapay zekâ 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D6E3F2"/>
                </a:solidFill>
                <a:effectLst/>
                <a:uFillTx/>
                <a:latin typeface="Calibri"/>
              </a:rPr>
              <a:t>otomatik olarak Blender 3B sahnesine dönüştüren bütünleşik sistem.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841320" y="5212080"/>
            <a:ext cx="4205880" cy="313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3320" rIns="90000" bIns="-133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822960" y="534924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Hazırlayanlar:  </a:t>
            </a:r>
            <a:r>
              <a:rPr lang="en-US" sz="1350" b="0" u="none" strike="noStrike">
                <a:solidFill>
                  <a:srgbClr val="D6E3F2"/>
                </a:solidFill>
                <a:effectLst/>
                <a:uFillTx/>
                <a:latin typeface="Calibri"/>
              </a:rPr>
              <a:t>Burak Yüceler · Ali Batuhan Dağcı · Abdurrahman Hamza Gündoğdu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Danışman:  </a:t>
            </a:r>
            <a:r>
              <a:rPr lang="en-US" sz="1350" b="0" u="none" strike="noStrike">
                <a:solidFill>
                  <a:srgbClr val="D6E3F2"/>
                </a:solidFill>
                <a:effectLst/>
                <a:uFillTx/>
                <a:latin typeface="Calibri"/>
              </a:rPr>
              <a:t>Prof. Dr. Şahin Uyaver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822960" y="62910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İstanbul · Haziran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502920" y="14616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İÇINDEKILER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Sunum Akışı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502920" y="850320"/>
            <a:ext cx="10423800" cy="2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Bitirme </a:t>
            </a:r>
            <a:r>
              <a:rPr lang="tr-TR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projesi sunumu yol haritası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0"/>
          <p:cNvSpPr/>
          <p:nvPr/>
        </p:nvSpPr>
        <p:spPr>
          <a:xfrm>
            <a:off x="502920" y="160020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Oval 11"/>
          <p:cNvSpPr/>
          <p:nvPr/>
        </p:nvSpPr>
        <p:spPr>
          <a:xfrm>
            <a:off x="667440" y="1837800"/>
            <a:ext cx="548280" cy="54828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1371600" y="174636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Giriş &amp;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Amaç, önem, problem tanımı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3"/>
          <p:cNvSpPr/>
          <p:nvPr/>
        </p:nvSpPr>
        <p:spPr>
          <a:xfrm>
            <a:off x="502920" y="276156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Oval 14"/>
          <p:cNvSpPr/>
          <p:nvPr/>
        </p:nvSpPr>
        <p:spPr>
          <a:xfrm>
            <a:off x="667440" y="2999160"/>
            <a:ext cx="548280" cy="54828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1371600" y="290772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Literatür ve Konum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İlgili çalışmalar, farkımız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Oval 17"/>
          <p:cNvSpPr/>
          <p:nvPr/>
        </p:nvSpPr>
        <p:spPr>
          <a:xfrm>
            <a:off x="667440" y="4160520"/>
            <a:ext cx="548280" cy="54828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8"/>
          <p:cNvSpPr/>
          <p:nvPr/>
        </p:nvSpPr>
        <p:spPr>
          <a:xfrm>
            <a:off x="1371600" y="4069080"/>
            <a:ext cx="2331360" cy="40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tr-TR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Sistem Mimarisi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tr-TR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Dört katmanlı işlem hattı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9"/>
          <p:cNvSpPr/>
          <p:nvPr/>
        </p:nvSpPr>
        <p:spPr>
          <a:xfrm>
            <a:off x="502920" y="508392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Oval 20"/>
          <p:cNvSpPr/>
          <p:nvPr/>
        </p:nvSpPr>
        <p:spPr>
          <a:xfrm>
            <a:off x="667440" y="5321880"/>
            <a:ext cx="548280" cy="54828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1371600" y="5230440"/>
            <a:ext cx="2331360" cy="40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tr-TR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Özgün Katkı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tr-TR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Neler yaplıdı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2"/>
          <p:cNvSpPr/>
          <p:nvPr/>
        </p:nvSpPr>
        <p:spPr>
          <a:xfrm>
            <a:off x="4434840" y="160020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Oval 23"/>
          <p:cNvSpPr/>
          <p:nvPr/>
        </p:nvSpPr>
        <p:spPr>
          <a:xfrm>
            <a:off x="4599360" y="1837800"/>
            <a:ext cx="548280" cy="54828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4"/>
          <p:cNvSpPr/>
          <p:nvPr/>
        </p:nvSpPr>
        <p:spPr>
          <a:xfrm>
            <a:off x="5303520" y="1746360"/>
            <a:ext cx="2331360" cy="4026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 dirty="0" err="1">
                <a:solidFill>
                  <a:srgbClr val="0F2A4A"/>
                </a:solidFill>
                <a:effectLst/>
                <a:uFillTx/>
                <a:latin typeface="Calibri"/>
              </a:rPr>
              <a:t>Katalog</a:t>
            </a:r>
            <a:r>
              <a:rPr lang="en-US" sz="1400" b="1" u="none" strike="noStrike" dirty="0">
                <a:solidFill>
                  <a:srgbClr val="0F2A4A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0F2A4A"/>
                </a:solidFill>
                <a:effectLst/>
                <a:uFillTx/>
                <a:latin typeface="Calibri"/>
              </a:rPr>
              <a:t>Şeması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Semantik</a:t>
            </a:r>
            <a:r>
              <a:rPr lang="en-US" sz="105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+ </a:t>
            </a:r>
            <a:r>
              <a:rPr lang="en-US" sz="105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geometri</a:t>
            </a:r>
            <a:r>
              <a:rPr lang="en-US" sz="105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05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katmanı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5"/>
          <p:cNvSpPr/>
          <p:nvPr/>
        </p:nvSpPr>
        <p:spPr>
          <a:xfrm>
            <a:off x="4434840" y="276156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Oval 26"/>
          <p:cNvSpPr/>
          <p:nvPr/>
        </p:nvSpPr>
        <p:spPr>
          <a:xfrm>
            <a:off x="4599360" y="2999160"/>
            <a:ext cx="548280" cy="54828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7"/>
          <p:cNvSpPr/>
          <p:nvPr/>
        </p:nvSpPr>
        <p:spPr>
          <a:xfrm>
            <a:off x="5303520" y="290772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Çok-Ajanlı Takım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4 uzman ajan, roller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28"/>
          <p:cNvSpPr/>
          <p:nvPr/>
        </p:nvSpPr>
        <p:spPr>
          <a:xfrm>
            <a:off x="4434840" y="392292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Oval 29"/>
          <p:cNvSpPr/>
          <p:nvPr/>
        </p:nvSpPr>
        <p:spPr>
          <a:xfrm>
            <a:off x="4599360" y="4160520"/>
            <a:ext cx="548280" cy="54828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0"/>
          <p:cNvSpPr/>
          <p:nvPr/>
        </p:nvSpPr>
        <p:spPr>
          <a:xfrm>
            <a:off x="5303520" y="406908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Yerleştirme &amp; Geometri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İç hacim kırpma, bağıl yönelim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31"/>
          <p:cNvSpPr/>
          <p:nvPr/>
        </p:nvSpPr>
        <p:spPr>
          <a:xfrm>
            <a:off x="4434840" y="508392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Oval 32"/>
          <p:cNvSpPr/>
          <p:nvPr/>
        </p:nvSpPr>
        <p:spPr>
          <a:xfrm>
            <a:off x="4599360" y="5321880"/>
            <a:ext cx="548280" cy="54828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3"/>
          <p:cNvSpPr/>
          <p:nvPr/>
        </p:nvSpPr>
        <p:spPr>
          <a:xfrm>
            <a:off x="5303520" y="523044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Blender Eklentisi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HTTP köprüsü (port 8766)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34"/>
          <p:cNvSpPr/>
          <p:nvPr/>
        </p:nvSpPr>
        <p:spPr>
          <a:xfrm>
            <a:off x="8366760" y="160020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Oval 35"/>
          <p:cNvSpPr/>
          <p:nvPr/>
        </p:nvSpPr>
        <p:spPr>
          <a:xfrm>
            <a:off x="8531280" y="1837800"/>
            <a:ext cx="548280" cy="54828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09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6"/>
          <p:cNvSpPr/>
          <p:nvPr/>
        </p:nvSpPr>
        <p:spPr>
          <a:xfrm>
            <a:off x="9235440" y="174636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Otomatik Kategorize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Hibrit 5 aşamalı akış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7"/>
          <p:cNvSpPr/>
          <p:nvPr/>
        </p:nvSpPr>
        <p:spPr>
          <a:xfrm>
            <a:off x="8366760" y="276156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Oval 38"/>
          <p:cNvSpPr/>
          <p:nvPr/>
        </p:nvSpPr>
        <p:spPr>
          <a:xfrm>
            <a:off x="8531280" y="2999160"/>
            <a:ext cx="548280" cy="54828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9"/>
          <p:cNvSpPr/>
          <p:nvPr/>
        </p:nvSpPr>
        <p:spPr>
          <a:xfrm>
            <a:off x="9235440" y="290772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Web Arayüzü &amp; Yığın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Teknoloji bileşenleri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40"/>
          <p:cNvSpPr/>
          <p:nvPr/>
        </p:nvSpPr>
        <p:spPr>
          <a:xfrm>
            <a:off x="8366760" y="392292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Oval 41"/>
          <p:cNvSpPr/>
          <p:nvPr/>
        </p:nvSpPr>
        <p:spPr>
          <a:xfrm>
            <a:off x="8531280" y="4160520"/>
            <a:ext cx="548280" cy="54828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42"/>
          <p:cNvSpPr/>
          <p:nvPr/>
        </p:nvSpPr>
        <p:spPr>
          <a:xfrm>
            <a:off x="9235440" y="4069080"/>
            <a:ext cx="2331360" cy="4026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 dirty="0" err="1">
                <a:solidFill>
                  <a:srgbClr val="0F2A4A"/>
                </a:solidFill>
                <a:effectLst/>
                <a:uFillTx/>
                <a:latin typeface="Calibri"/>
              </a:rPr>
              <a:t>Bulgular</a:t>
            </a:r>
            <a:r>
              <a:rPr lang="en-US" sz="1400" b="1" u="none" strike="noStrike" dirty="0">
                <a:solidFill>
                  <a:srgbClr val="0F2A4A"/>
                </a:solidFill>
                <a:effectLst/>
                <a:uFillTx/>
                <a:latin typeface="Calibri"/>
              </a:rPr>
              <a:t> &amp; Test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niceliksel</a:t>
            </a:r>
            <a:r>
              <a:rPr lang="en-US" sz="105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05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ölçüm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43"/>
          <p:cNvSpPr/>
          <p:nvPr/>
        </p:nvSpPr>
        <p:spPr>
          <a:xfrm>
            <a:off x="8366760" y="5083920"/>
            <a:ext cx="3337200" cy="10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Oval 44"/>
          <p:cNvSpPr/>
          <p:nvPr/>
        </p:nvSpPr>
        <p:spPr>
          <a:xfrm>
            <a:off x="8531280" y="5321880"/>
            <a:ext cx="548280" cy="54828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45"/>
          <p:cNvSpPr/>
          <p:nvPr/>
        </p:nvSpPr>
        <p:spPr>
          <a:xfrm>
            <a:off x="9235440" y="523044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Sonuç &amp; Gelecek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Katkılar, sınırlar, vizyon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1 </a:t>
            </a:r>
            <a:r>
              <a:rPr lang="tr-TR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— GIRIŞ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Projenin Amacı ve Önemi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Kullanıcı ile 3B tasarım yazılımı arasındaki teknik bilgi engelini kaldırmak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0"/>
          <p:cNvSpPr/>
          <p:nvPr/>
        </p:nvSpPr>
        <p:spPr>
          <a:xfrm>
            <a:off x="502920" y="1554480"/>
            <a:ext cx="4937400" cy="187416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11"/>
          <p:cNvSpPr/>
          <p:nvPr/>
        </p:nvSpPr>
        <p:spPr>
          <a:xfrm>
            <a:off x="502920" y="1554480"/>
            <a:ext cx="4937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2"/>
          <p:cNvSpPr/>
          <p:nvPr/>
        </p:nvSpPr>
        <p:spPr>
          <a:xfrm>
            <a:off x="777240" y="1783080"/>
            <a:ext cx="448020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2A52E"/>
                </a:solidFill>
                <a:effectLst/>
                <a:uFillTx/>
                <a:latin typeface="Calibri"/>
              </a:rPr>
              <a:t>  AMAÇ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3"/>
          <p:cNvSpPr/>
          <p:nvPr/>
        </p:nvSpPr>
        <p:spPr>
          <a:xfrm>
            <a:off x="777240" y="2240280"/>
            <a:ext cx="44344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Doğal dil ile ifade edilen iç mekân tasarım isteklerini, </a:t>
            </a:r>
            <a:r>
              <a:rPr lang="en-US" sz="14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insan müdahalesi olmadan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otomatik olarak üç boyutlu bir Blender sahnesine dönüştüren </a:t>
            </a:r>
            <a:r>
              <a:rPr lang="en-US" sz="14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modüler ve genişletilebilir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bir yapay zekâ sistemi geliştirmek.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4"/>
          <p:cNvSpPr/>
          <p:nvPr/>
        </p:nvSpPr>
        <p:spPr>
          <a:xfrm>
            <a:off x="502920" y="3611880"/>
            <a:ext cx="4937400" cy="2377080"/>
          </a:xfrm>
          <a:prstGeom prst="rect">
            <a:avLst/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15"/>
          <p:cNvSpPr/>
          <p:nvPr/>
        </p:nvSpPr>
        <p:spPr>
          <a:xfrm>
            <a:off x="502920" y="3611880"/>
            <a:ext cx="91080" cy="237708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6"/>
          <p:cNvSpPr/>
          <p:nvPr/>
        </p:nvSpPr>
        <p:spPr>
          <a:xfrm>
            <a:off x="777240" y="3794760"/>
            <a:ext cx="448020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 err="1">
                <a:solidFill>
                  <a:srgbClr val="0F2A4A"/>
                </a:solidFill>
                <a:effectLst/>
                <a:uFillTx/>
                <a:latin typeface="Calibri"/>
              </a:rPr>
              <a:t>Vizyon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7"/>
          <p:cNvSpPr/>
          <p:nvPr/>
        </p:nvSpPr>
        <p:spPr>
          <a:xfrm>
            <a:off x="777240" y="4206240"/>
            <a:ext cx="448020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8000"/>
              </a:lnSpc>
              <a:spcAft>
                <a:spcPts val="601"/>
              </a:spcAft>
            </a:pPr>
            <a:r>
              <a:rPr lang="en-US" sz="125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Nihai</a:t>
            </a:r>
            <a:r>
              <a:rPr lang="en-US" sz="125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25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hedef</a:t>
            </a:r>
            <a:r>
              <a:rPr lang="en-US" sz="125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, YZ </a:t>
            </a:r>
            <a:r>
              <a:rPr lang="en-US" sz="125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ajanlarının</a:t>
            </a:r>
            <a:r>
              <a:rPr lang="en-US" sz="125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Blender </a:t>
            </a:r>
            <a:r>
              <a:rPr lang="en-US" sz="125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ile</a:t>
            </a:r>
            <a:r>
              <a:rPr lang="en-US" sz="125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25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sıfırdan</a:t>
            </a:r>
            <a:r>
              <a:rPr lang="en-US" sz="125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25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modelleme</a:t>
            </a:r>
            <a:r>
              <a:rPr lang="en-US" sz="125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25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yapabilmesidir</a:t>
            </a:r>
            <a:r>
              <a:rPr lang="en-US" sz="125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601"/>
              </a:spcAft>
            </a:pP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Mevcut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proje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,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bu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hedefe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ulaşmadan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önce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hazır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modellerle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iç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dekorasyon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problemine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odaklanarak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altyapıyı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ve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ajan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orkestrasyon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yöntemlerini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olgunlaştırır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8"/>
          <p:cNvSpPr/>
          <p:nvPr/>
        </p:nvSpPr>
        <p:spPr>
          <a:xfrm>
            <a:off x="5806440" y="1554480"/>
            <a:ext cx="5897520" cy="1032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9"/>
          <p:cNvSpPr/>
          <p:nvPr/>
        </p:nvSpPr>
        <p:spPr>
          <a:xfrm>
            <a:off x="5806440" y="1554480"/>
            <a:ext cx="91080" cy="103284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0"/>
          <p:cNvSpPr/>
          <p:nvPr/>
        </p:nvSpPr>
        <p:spPr>
          <a:xfrm>
            <a:off x="6062400" y="1700640"/>
            <a:ext cx="54860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 Erişilebilirlik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1"/>
          <p:cNvSpPr/>
          <p:nvPr/>
        </p:nvSpPr>
        <p:spPr>
          <a:xfrm>
            <a:off x="6062400" y="2121480"/>
            <a:ext cx="5486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3B modelleme bilgisi olmadan, yalnızca metinle tasarım.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22"/>
          <p:cNvSpPr/>
          <p:nvPr/>
        </p:nvSpPr>
        <p:spPr>
          <a:xfrm>
            <a:off x="5806440" y="2688480"/>
            <a:ext cx="5897520" cy="1032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23"/>
          <p:cNvSpPr/>
          <p:nvPr/>
        </p:nvSpPr>
        <p:spPr>
          <a:xfrm>
            <a:off x="5806440" y="2688480"/>
            <a:ext cx="91080" cy="103284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4"/>
          <p:cNvSpPr/>
          <p:nvPr/>
        </p:nvSpPr>
        <p:spPr>
          <a:xfrm>
            <a:off x="6062400" y="2834640"/>
            <a:ext cx="54860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  Tutarlılık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5"/>
          <p:cNvSpPr/>
          <p:nvPr/>
        </p:nvSpPr>
        <p:spPr>
          <a:xfrm>
            <a:off x="6062400" y="3255120"/>
            <a:ext cx="5486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Ölçek, yönelim ve konum; kurallı + semantik algoritma 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26"/>
          <p:cNvSpPr/>
          <p:nvPr/>
        </p:nvSpPr>
        <p:spPr>
          <a:xfrm>
            <a:off x="5806440" y="3822120"/>
            <a:ext cx="5897520" cy="1032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27"/>
          <p:cNvSpPr/>
          <p:nvPr/>
        </p:nvSpPr>
        <p:spPr>
          <a:xfrm>
            <a:off x="5806440" y="3822120"/>
            <a:ext cx="91080" cy="103284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8"/>
          <p:cNvSpPr/>
          <p:nvPr/>
        </p:nvSpPr>
        <p:spPr>
          <a:xfrm>
            <a:off x="6062400" y="3968640"/>
            <a:ext cx="54860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  Genişletilebilirlik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9"/>
          <p:cNvSpPr/>
          <p:nvPr/>
        </p:nvSpPr>
        <p:spPr>
          <a:xfrm>
            <a:off x="6062400" y="4389120"/>
            <a:ext cx="5486040" cy="1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Yeni </a:t>
            </a:r>
            <a:r>
              <a:rPr lang="tr-TR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oluşturulan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modeller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hibrit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otomatik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kategorize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ile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eklenir</a:t>
            </a:r>
            <a:r>
              <a:rPr lang="en-US" sz="12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30"/>
          <p:cNvSpPr/>
          <p:nvPr/>
        </p:nvSpPr>
        <p:spPr>
          <a:xfrm>
            <a:off x="5806440" y="4956120"/>
            <a:ext cx="5897520" cy="1032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31"/>
          <p:cNvSpPr/>
          <p:nvPr/>
        </p:nvSpPr>
        <p:spPr>
          <a:xfrm>
            <a:off x="5806440" y="4956120"/>
            <a:ext cx="91080" cy="1032840"/>
          </a:xfrm>
          <a:prstGeom prst="rect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32"/>
          <p:cNvSpPr/>
          <p:nvPr/>
        </p:nvSpPr>
        <p:spPr>
          <a:xfrm>
            <a:off x="6062400" y="5102280"/>
            <a:ext cx="54860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0F2A4A"/>
                </a:solidFill>
                <a:effectLst/>
                <a:uFillTx/>
                <a:latin typeface="Calibri"/>
              </a:rPr>
              <a:t>  </a:t>
            </a:r>
            <a:r>
              <a:rPr lang="en-US" sz="1400" b="1" u="none" strike="noStrike" dirty="0" err="1">
                <a:solidFill>
                  <a:srgbClr val="0F2A4A"/>
                </a:solidFill>
                <a:effectLst/>
                <a:uFillTx/>
                <a:latin typeface="Calibri"/>
              </a:rPr>
              <a:t>Sağlayıcı</a:t>
            </a:r>
            <a:r>
              <a:rPr lang="en-US" sz="1400" b="1" u="none" strike="noStrike" dirty="0">
                <a:solidFill>
                  <a:srgbClr val="0F2A4A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0F2A4A"/>
                </a:solidFill>
                <a:effectLst/>
                <a:uFillTx/>
                <a:latin typeface="Calibri"/>
              </a:rPr>
              <a:t>Bağımsızlığı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3"/>
          <p:cNvSpPr/>
          <p:nvPr/>
        </p:nvSpPr>
        <p:spPr>
          <a:xfrm>
            <a:off x="6062400" y="5523120"/>
            <a:ext cx="5486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2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Gemini ya da Claude; tek sağlayıcıya bağlı değil.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 Tanımı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Tek bir dev prompt yerine, problemi uzman ajanlara bölmek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502920" y="146304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400" b="0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Doğal dilden 3B sahne üretimi, birbirini izleyen </a:t>
            </a:r>
            <a:r>
              <a:rPr lang="en-US" sz="140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dört alt-problemin</a:t>
            </a:r>
            <a:r>
              <a:rPr lang="en-US" sz="1400" b="0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 çözülmesini gerektirir: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11"/>
          <p:cNvSpPr/>
          <p:nvPr/>
        </p:nvSpPr>
        <p:spPr>
          <a:xfrm>
            <a:off x="502920" y="2194560"/>
            <a:ext cx="2697120" cy="2239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12"/>
          <p:cNvSpPr/>
          <p:nvPr/>
        </p:nvSpPr>
        <p:spPr>
          <a:xfrm>
            <a:off x="502920" y="2194560"/>
            <a:ext cx="2697120" cy="65808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685800" y="228600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 Niyet Çıkarımı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704160" y="3063240"/>
            <a:ext cx="2294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Serbest metinden oda tipi, boyut, stil ve istenen mobilyaların belirlenmesi.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hevron 15"/>
          <p:cNvSpPr/>
          <p:nvPr/>
        </p:nvSpPr>
        <p:spPr>
          <a:xfrm>
            <a:off x="3129480" y="3040560"/>
            <a:ext cx="255600" cy="50256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16"/>
          <p:cNvSpPr/>
          <p:nvPr/>
        </p:nvSpPr>
        <p:spPr>
          <a:xfrm>
            <a:off x="3364920" y="2194560"/>
            <a:ext cx="2697120" cy="2239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17"/>
          <p:cNvSpPr/>
          <p:nvPr/>
        </p:nvSpPr>
        <p:spPr>
          <a:xfrm>
            <a:off x="3364920" y="2194560"/>
            <a:ext cx="2697120" cy="65808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3547800" y="228600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 Varlık Eşleştirme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3566160" y="3063240"/>
            <a:ext cx="2294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İhtiyaçların, 3B model kataloğundaki uygun varlıklarla eşleştirilmesi.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hevron 20"/>
          <p:cNvSpPr/>
          <p:nvPr/>
        </p:nvSpPr>
        <p:spPr>
          <a:xfrm>
            <a:off x="5965560" y="3051000"/>
            <a:ext cx="255600" cy="50256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21"/>
          <p:cNvSpPr/>
          <p:nvPr/>
        </p:nvSpPr>
        <p:spPr>
          <a:xfrm>
            <a:off x="6226920" y="2194560"/>
            <a:ext cx="2697120" cy="2239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22"/>
          <p:cNvSpPr/>
          <p:nvPr/>
        </p:nvSpPr>
        <p:spPr>
          <a:xfrm>
            <a:off x="6226920" y="2194560"/>
            <a:ext cx="2697120" cy="65808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3"/>
          <p:cNvSpPr/>
          <p:nvPr/>
        </p:nvSpPr>
        <p:spPr>
          <a:xfrm>
            <a:off x="6409800" y="228600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 Uzamsal Yerleştirme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4"/>
          <p:cNvSpPr/>
          <p:nvPr/>
        </p:nvSpPr>
        <p:spPr>
          <a:xfrm>
            <a:off x="6428160" y="3063240"/>
            <a:ext cx="2294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Mobilyaların çakışmadan, doğru ölçek/yönelim ve anlamlı ilişkilerle konumlandırılması.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hevron 25"/>
          <p:cNvSpPr/>
          <p:nvPr/>
        </p:nvSpPr>
        <p:spPr>
          <a:xfrm>
            <a:off x="8832960" y="3069720"/>
            <a:ext cx="255600" cy="50256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26"/>
          <p:cNvSpPr/>
          <p:nvPr/>
        </p:nvSpPr>
        <p:spPr>
          <a:xfrm>
            <a:off x="9089280" y="2194560"/>
            <a:ext cx="2697120" cy="2239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27"/>
          <p:cNvSpPr/>
          <p:nvPr/>
        </p:nvSpPr>
        <p:spPr>
          <a:xfrm>
            <a:off x="9089280" y="2194560"/>
            <a:ext cx="2697120" cy="658080"/>
          </a:xfrm>
          <a:prstGeom prst="rect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8"/>
          <p:cNvSpPr/>
          <p:nvPr/>
        </p:nvSpPr>
        <p:spPr>
          <a:xfrm>
            <a:off x="9272160" y="228600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 Sahne Yürütme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9"/>
          <p:cNvSpPr/>
          <p:nvPr/>
        </p:nvSpPr>
        <p:spPr>
          <a:xfrm>
            <a:off x="9290160" y="3063240"/>
            <a:ext cx="2294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Hesaplanan yerleşimin gerçek bir 3B yazılımı (Blender) içinde inşa edilmesi.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30"/>
          <p:cNvSpPr/>
          <p:nvPr/>
        </p:nvSpPr>
        <p:spPr>
          <a:xfrm>
            <a:off x="502920" y="4800600"/>
            <a:ext cx="11201040" cy="123408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31"/>
          <p:cNvSpPr/>
          <p:nvPr/>
        </p:nvSpPr>
        <p:spPr>
          <a:xfrm>
            <a:off x="502920" y="4800600"/>
            <a:ext cx="109440" cy="123408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32"/>
          <p:cNvSpPr/>
          <p:nvPr/>
        </p:nvSpPr>
        <p:spPr>
          <a:xfrm>
            <a:off x="777240" y="4956120"/>
            <a:ext cx="106981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F2A52E"/>
                </a:solidFill>
                <a:effectLst/>
                <a:uFillTx/>
                <a:latin typeface="Calibri"/>
              </a:rPr>
              <a:t>⚠  Neden çok-ajanlı? 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 alt-problemlerin tek bir dev dil modeli isteminde çözülmeye çalışılması; hata ayıklamayı zorlaştıran, </a:t>
            </a:r>
            <a:r>
              <a:rPr lang="en-US" sz="13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tutarsız ve denetlenemez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sonuçlar üretir. Bu nedenle her alt-problem, </a:t>
            </a:r>
            <a:r>
              <a:rPr lang="en-US" sz="13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ayrı bir uzman ajana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verilmiştir.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Kapsam ve Sınırlar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Mevcut sürüm: hazır 3B modellerle iç dekorasyon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10"/>
          <p:cNvSpPr/>
          <p:nvPr/>
        </p:nvSpPr>
        <p:spPr>
          <a:xfrm>
            <a:off x="502920" y="1554480"/>
            <a:ext cx="5486040" cy="448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11"/>
          <p:cNvSpPr/>
          <p:nvPr/>
        </p:nvSpPr>
        <p:spPr>
          <a:xfrm>
            <a:off x="502920" y="1554480"/>
            <a:ext cx="5486040" cy="639720"/>
          </a:xfrm>
          <a:prstGeom prst="rect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12"/>
          <p:cNvSpPr/>
          <p:nvPr/>
        </p:nvSpPr>
        <p:spPr>
          <a:xfrm>
            <a:off x="731520" y="162756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 KAPSAM İÇİNDE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3"/>
          <p:cNvSpPr/>
          <p:nvPr/>
        </p:nvSpPr>
        <p:spPr>
          <a:xfrm>
            <a:off x="777240" y="2423160"/>
            <a:ext cx="4983120" cy="1849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6000"/>
              </a:lnSpc>
              <a:spcAft>
                <a:spcPts val="1400"/>
              </a:spcAft>
            </a:pPr>
            <a:r>
              <a:rPr lang="en-US" sz="1400" b="1" u="none" strike="noStrike" dirty="0">
                <a:solidFill>
                  <a:srgbClr val="2E9E5B"/>
                </a:solidFill>
                <a:effectLst/>
                <a:uFillTx/>
                <a:latin typeface="Calibri"/>
              </a:rPr>
              <a:t>▸  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Oda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oluşturma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—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geometrinin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sistem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tarafından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kurulması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400"/>
              </a:spcAft>
            </a:pPr>
            <a:r>
              <a:rPr lang="en-US" sz="1400" b="1" u="none" strike="noStrike" dirty="0">
                <a:solidFill>
                  <a:srgbClr val="2E9E5B"/>
                </a:solidFill>
                <a:effectLst/>
                <a:uFillTx/>
                <a:latin typeface="Calibri"/>
              </a:rPr>
              <a:t>▸ 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Mobilya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seçme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ve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yerleştirme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—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semantik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katalogdan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400"/>
              </a:spcAft>
            </a:pPr>
            <a:r>
              <a:rPr lang="en-US" sz="1400" b="1" u="none" strike="noStrike" dirty="0">
                <a:solidFill>
                  <a:srgbClr val="2E9E5B"/>
                </a:solidFill>
                <a:effectLst/>
                <a:uFillTx/>
                <a:latin typeface="Calibri"/>
              </a:rPr>
              <a:t>▸  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Yeni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varlık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ekleme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—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otomatik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kategorize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5A6B7B"/>
                </a:solidFill>
                <a:effectLst/>
                <a:uFillTx/>
                <a:latin typeface="Calibri"/>
              </a:rPr>
              <a:t>ile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400"/>
              </a:spcAft>
            </a:pPr>
            <a:r>
              <a:rPr lang="en-US" sz="1400" b="1" u="none" strike="noStrike" dirty="0">
                <a:solidFill>
                  <a:srgbClr val="2E9E5B"/>
                </a:solidFill>
                <a:effectLst/>
                <a:uFillTx/>
                <a:latin typeface="Calibri"/>
              </a:rPr>
              <a:t>▸  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İki LLM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sağlayıcı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desteği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— Gemini / Claude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400"/>
              </a:spcAft>
            </a:pPr>
            <a:r>
              <a:rPr lang="en-US" sz="1400" b="1" u="none" strike="noStrike" dirty="0">
                <a:solidFill>
                  <a:srgbClr val="2E9E5B"/>
                </a:solidFill>
                <a:effectLst/>
                <a:uFillTx/>
                <a:latin typeface="Calibri"/>
              </a:rPr>
              <a:t>▸  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2B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kuşbakışı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plan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ile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elle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düzenleme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(override)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4"/>
          <p:cNvSpPr/>
          <p:nvPr/>
        </p:nvSpPr>
        <p:spPr>
          <a:xfrm>
            <a:off x="6217920" y="1554480"/>
            <a:ext cx="5486040" cy="448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5"/>
          <p:cNvSpPr/>
          <p:nvPr/>
        </p:nvSpPr>
        <p:spPr>
          <a:xfrm>
            <a:off x="6217920" y="1554480"/>
            <a:ext cx="5486040" cy="639720"/>
          </a:xfrm>
          <a:prstGeom prst="rect">
            <a:avLst/>
          </a:prstGeom>
          <a:solidFill>
            <a:srgbClr val="5A6B7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6"/>
          <p:cNvSpPr/>
          <p:nvPr/>
        </p:nvSpPr>
        <p:spPr>
          <a:xfrm>
            <a:off x="6446520" y="162756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✕  KAPSAM DIŞINDA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7"/>
          <p:cNvSpPr/>
          <p:nvPr/>
        </p:nvSpPr>
        <p:spPr>
          <a:xfrm>
            <a:off x="6492240" y="2423160"/>
            <a:ext cx="4983120" cy="14359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6000"/>
              </a:lnSpc>
              <a:spcAft>
                <a:spcPts val="1400"/>
              </a:spcAft>
            </a:pPr>
            <a:r>
              <a:rPr lang="en-US" sz="1400" b="1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▸ 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Fotogerçekçi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görselleştirme</a:t>
            </a:r>
            <a:r>
              <a:rPr lang="en-US" sz="1400" b="0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 (render)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400"/>
              </a:spcAft>
            </a:pPr>
            <a:r>
              <a:rPr lang="en-US" sz="1400" b="1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▸ 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Malzeme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/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ışık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optimizasyonu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400"/>
              </a:spcAft>
            </a:pPr>
            <a:r>
              <a:rPr lang="en-US" sz="1400" b="1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▸  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Fizik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tabanlı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çakışma</a:t>
            </a:r>
            <a:r>
              <a:rPr lang="en-US" sz="1400" b="1" u="none" strike="noStrike" dirty="0">
                <a:solidFill>
                  <a:srgbClr val="1B2A38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B2A38"/>
                </a:solidFill>
                <a:effectLst/>
                <a:uFillTx/>
                <a:latin typeface="Calibri"/>
              </a:rPr>
              <a:t>çözümü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400"/>
              </a:spcAf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502920" y="14616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2 — LITERATÜR TARAMASI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Literatürdeki Konum ve Farkımız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Üretken/nöral metin→3B yöntemlerine karşı prosedürel + katalog yaklaşımı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0"/>
          <p:cNvSpPr/>
          <p:nvPr/>
        </p:nvSpPr>
        <p:spPr>
          <a:xfrm>
            <a:off x="502920" y="14630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Literatürün Gelişimi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1"/>
          <p:cNvSpPr/>
          <p:nvPr/>
        </p:nvSpPr>
        <p:spPr>
          <a:xfrm>
            <a:off x="502920" y="1920240"/>
            <a:ext cx="5120280" cy="82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5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GAN → Difüzyon → CLIP/NeRF</a:t>
            </a:r>
            <a:r>
              <a:rPr lang="en-US" sz="12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evrimi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5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Görsel kalite artar, </a:t>
            </a:r>
            <a:r>
              <a:rPr lang="en-US" sz="12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fakat çıktı çoğu kez düzenlenmesi zor temsillerde (NeRF)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5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Sahne üretimi</a:t>
            </a:r>
            <a:r>
              <a:rPr lang="en-US" sz="12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= nesne + mekânsal ilişki yönetimi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2"/>
          <p:cNvSpPr/>
          <p:nvPr/>
        </p:nvSpPr>
        <p:spPr>
          <a:xfrm>
            <a:off x="502920" y="3794760"/>
            <a:ext cx="5120280" cy="214848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13"/>
          <p:cNvSpPr/>
          <p:nvPr/>
        </p:nvSpPr>
        <p:spPr>
          <a:xfrm>
            <a:off x="502920" y="3794760"/>
            <a:ext cx="91080" cy="214848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4"/>
          <p:cNvSpPr/>
          <p:nvPr/>
        </p:nvSpPr>
        <p:spPr>
          <a:xfrm>
            <a:off x="749880" y="39502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A52E"/>
                </a:solidFill>
                <a:effectLst/>
                <a:uFillTx/>
                <a:latin typeface="Calibri"/>
              </a:rPr>
              <a:t>Ayırt Edici Yönlerimiz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5"/>
          <p:cNvSpPr/>
          <p:nvPr/>
        </p:nvSpPr>
        <p:spPr>
          <a:xfrm>
            <a:off x="749880" y="4370760"/>
            <a:ext cx="470880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1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Düzenlenebilir mesh çıktısı (prosedürel)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1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Otomatik kategorize ile genişleyen semantik katalog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1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Oda/bina dışına taşmayı garanti eden iç hacim kırpma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601"/>
              </a:spcAft>
            </a:pPr>
            <a:r>
              <a:rPr lang="en-US" sz="11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Hazır bina modeli içine yerleştirme (Workflow B)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6"/>
          <p:cNvSpPr/>
          <p:nvPr/>
        </p:nvSpPr>
        <p:spPr>
          <a:xfrm>
            <a:off x="5852160" y="1463040"/>
            <a:ext cx="585180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İlgili çalışmalarla karşılaştırma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8" name="Table 17"/>
          <p:cNvGraphicFramePr/>
          <p:nvPr/>
        </p:nvGraphicFramePr>
        <p:xfrm>
          <a:off x="5852160" y="1920240"/>
          <a:ext cx="5852160" cy="40219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Boyut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Üretken / nöral 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Bu çalışma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Varlık kaynağı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Üretilen geometri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Semantik v2 katalog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Çıktı temsili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Çoğunlukla NeRF (zor)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Düzenlenebilir mesh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Yerleştirme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Öğrenilmiş / üretken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Kural + geometri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Taşma kontrolü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Belirsiz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İç hacim bbox (garanti)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Hedef yazılım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Çoğunlukla araştırma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Blender (üretim aracı)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LLM sağlayıcı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Sabit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Bağımsız (Gemini/Claude)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</a:t>
            </a:r>
            <a:r>
              <a:rPr lang="tr-TR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Sistem Mimarisi — Dört Katmanlı İşlem Hattı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Takım orkestratörü (agents/team.py) sırasıyla dört uzman ajanı yönetir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0"/>
          <p:cNvSpPr/>
          <p:nvPr/>
        </p:nvSpPr>
        <p:spPr>
          <a:xfrm>
            <a:off x="4480560" y="1508760"/>
            <a:ext cx="3200040" cy="502560"/>
          </a:xfrm>
          <a:prstGeom prst="roundRect">
            <a:avLst>
              <a:gd name="adj" fmla="val 50000"/>
            </a:avLst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KULLANICI  (Web Arayüzü / CLI)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Chevron 11"/>
          <p:cNvSpPr/>
          <p:nvPr/>
        </p:nvSpPr>
        <p:spPr>
          <a:xfrm>
            <a:off x="5897880" y="2057400"/>
            <a:ext cx="365400" cy="31968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12"/>
          <p:cNvSpPr/>
          <p:nvPr/>
        </p:nvSpPr>
        <p:spPr>
          <a:xfrm>
            <a:off x="3108960" y="2423160"/>
            <a:ext cx="5943240" cy="59400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3"/>
          <p:cNvSpPr/>
          <p:nvPr/>
        </p:nvSpPr>
        <p:spPr>
          <a:xfrm>
            <a:off x="3108960" y="2423160"/>
            <a:ext cx="5943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Takım Orkestratörü   (agents/team.py)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14"/>
          <p:cNvSpPr/>
          <p:nvPr/>
        </p:nvSpPr>
        <p:spPr>
          <a:xfrm>
            <a:off x="567000" y="3429000"/>
            <a:ext cx="254160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15"/>
          <p:cNvSpPr/>
          <p:nvPr/>
        </p:nvSpPr>
        <p:spPr>
          <a:xfrm>
            <a:off x="567000" y="3429000"/>
            <a:ext cx="2541600" cy="10944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Oval 16"/>
          <p:cNvSpPr/>
          <p:nvPr/>
        </p:nvSpPr>
        <p:spPr>
          <a:xfrm>
            <a:off x="1545480" y="3684960"/>
            <a:ext cx="585000" cy="58500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7"/>
          <p:cNvSpPr/>
          <p:nvPr/>
        </p:nvSpPr>
        <p:spPr>
          <a:xfrm>
            <a:off x="567000" y="4325040"/>
            <a:ext cx="2541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Mekân Analisti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Chevron 18"/>
          <p:cNvSpPr/>
          <p:nvPr/>
        </p:nvSpPr>
        <p:spPr>
          <a:xfrm>
            <a:off x="3072240" y="3931920"/>
            <a:ext cx="310680" cy="36540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ounded Rectangle 19"/>
          <p:cNvSpPr/>
          <p:nvPr/>
        </p:nvSpPr>
        <p:spPr>
          <a:xfrm>
            <a:off x="567000" y="4956120"/>
            <a:ext cx="2541600" cy="456840"/>
          </a:xfrm>
          <a:prstGeom prst="roundRect">
            <a:avLst>
              <a:gd name="adj" fmla="val 50000"/>
            </a:avLst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oda / slot analizi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20"/>
          <p:cNvSpPr/>
          <p:nvPr/>
        </p:nvSpPr>
        <p:spPr>
          <a:xfrm>
            <a:off x="3401640" y="3429000"/>
            <a:ext cx="254160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ctangle 21"/>
          <p:cNvSpPr/>
          <p:nvPr/>
        </p:nvSpPr>
        <p:spPr>
          <a:xfrm>
            <a:off x="3401640" y="3429000"/>
            <a:ext cx="2541600" cy="10944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Oval 22"/>
          <p:cNvSpPr/>
          <p:nvPr/>
        </p:nvSpPr>
        <p:spPr>
          <a:xfrm>
            <a:off x="4380120" y="3684960"/>
            <a:ext cx="585000" cy="58500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3"/>
          <p:cNvSpPr/>
          <p:nvPr/>
        </p:nvSpPr>
        <p:spPr>
          <a:xfrm>
            <a:off x="3401640" y="4325040"/>
            <a:ext cx="2541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Mobilya Seçici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Chevron 24"/>
          <p:cNvSpPr/>
          <p:nvPr/>
        </p:nvSpPr>
        <p:spPr>
          <a:xfrm>
            <a:off x="5906880" y="3931920"/>
            <a:ext cx="310680" cy="36540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ounded Rectangle 25"/>
          <p:cNvSpPr/>
          <p:nvPr/>
        </p:nvSpPr>
        <p:spPr>
          <a:xfrm>
            <a:off x="3401640" y="4956120"/>
            <a:ext cx="2541600" cy="456840"/>
          </a:xfrm>
          <a:prstGeom prst="roundRect">
            <a:avLst>
              <a:gd name="adj" fmla="val 50000"/>
            </a:avLst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katalogdan varlık seçimi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26"/>
          <p:cNvSpPr/>
          <p:nvPr/>
        </p:nvSpPr>
        <p:spPr>
          <a:xfrm>
            <a:off x="6236280" y="3429000"/>
            <a:ext cx="254160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27"/>
          <p:cNvSpPr/>
          <p:nvPr/>
        </p:nvSpPr>
        <p:spPr>
          <a:xfrm>
            <a:off x="6236280" y="3429000"/>
            <a:ext cx="2541600" cy="10944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Oval 28"/>
          <p:cNvSpPr/>
          <p:nvPr/>
        </p:nvSpPr>
        <p:spPr>
          <a:xfrm>
            <a:off x="7214760" y="3684960"/>
            <a:ext cx="585000" cy="585000"/>
          </a:xfrm>
          <a:prstGeom prst="ellipse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29"/>
          <p:cNvSpPr/>
          <p:nvPr/>
        </p:nvSpPr>
        <p:spPr>
          <a:xfrm>
            <a:off x="6236280" y="4325040"/>
            <a:ext cx="2541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Yerleşim Tasarımcısı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Chevron 30"/>
          <p:cNvSpPr/>
          <p:nvPr/>
        </p:nvSpPr>
        <p:spPr>
          <a:xfrm>
            <a:off x="8741520" y="3931920"/>
            <a:ext cx="310680" cy="36540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ounded Rectangle 31"/>
          <p:cNvSpPr/>
          <p:nvPr/>
        </p:nvSpPr>
        <p:spPr>
          <a:xfrm>
            <a:off x="6236280" y="4956120"/>
            <a:ext cx="2541600" cy="456840"/>
          </a:xfrm>
          <a:prstGeom prst="roundRect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konum + dönüş hesabı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32"/>
          <p:cNvSpPr/>
          <p:nvPr/>
        </p:nvSpPr>
        <p:spPr>
          <a:xfrm>
            <a:off x="9070920" y="3429000"/>
            <a:ext cx="254160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ectangle 33"/>
          <p:cNvSpPr/>
          <p:nvPr/>
        </p:nvSpPr>
        <p:spPr>
          <a:xfrm>
            <a:off x="9070920" y="3429000"/>
            <a:ext cx="2541600" cy="109440"/>
          </a:xfrm>
          <a:prstGeom prst="rect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Oval 34"/>
          <p:cNvSpPr/>
          <p:nvPr/>
        </p:nvSpPr>
        <p:spPr>
          <a:xfrm>
            <a:off x="10049400" y="3684960"/>
            <a:ext cx="585000" cy="58500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5"/>
          <p:cNvSpPr/>
          <p:nvPr/>
        </p:nvSpPr>
        <p:spPr>
          <a:xfrm>
            <a:off x="9070920" y="4325040"/>
            <a:ext cx="2541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Blender Yürütücü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36"/>
          <p:cNvSpPr/>
          <p:nvPr/>
        </p:nvSpPr>
        <p:spPr>
          <a:xfrm>
            <a:off x="9070920" y="4956120"/>
            <a:ext cx="2541600" cy="4568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HTTP POST → eklenti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37"/>
          <p:cNvSpPr/>
          <p:nvPr/>
        </p:nvSpPr>
        <p:spPr>
          <a:xfrm>
            <a:off x="567000" y="5481720"/>
            <a:ext cx="11155320" cy="914040"/>
          </a:xfrm>
          <a:prstGeom prst="rect">
            <a:avLst/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ectangle 38"/>
          <p:cNvSpPr/>
          <p:nvPr/>
        </p:nvSpPr>
        <p:spPr>
          <a:xfrm>
            <a:off x="567000" y="5478120"/>
            <a:ext cx="91080" cy="91404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39"/>
          <p:cNvSpPr/>
          <p:nvPr/>
        </p:nvSpPr>
        <p:spPr>
          <a:xfrm>
            <a:off x="804600" y="55778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2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İki giriş noktası: 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Web arayüzü + API → </a:t>
            </a:r>
            <a:r>
              <a:rPr lang="en-US" sz="120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run_team.py --serve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(FastAPI, port 8080)   ·   doğrudan CLI → </a:t>
            </a:r>
            <a:r>
              <a:rPr lang="en-US" sz="120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run_team.py "&lt;istek&gt;"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.  Her ajan çıktısını bir sonrakine aktarır (sequential); son ajan </a:t>
            </a:r>
            <a:r>
              <a:rPr lang="en-US" sz="1200" b="1" u="none" strike="noStrike">
                <a:solidFill>
                  <a:srgbClr val="2E9E5B"/>
                </a:solidFill>
                <a:effectLst/>
                <a:uFillTx/>
                <a:latin typeface="Calibri"/>
              </a:rPr>
              <a:t>HTTP POST → Blender eklentisi (port 8766)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4 · ÖZGÜN KATKI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5"/>
          <p:cNvSpPr/>
          <p:nvPr/>
        </p:nvSpPr>
        <p:spPr>
          <a:xfrm>
            <a:off x="502920" y="402480"/>
            <a:ext cx="10240920" cy="41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Katalog Şeması ve Semantik Katman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6"/>
          <p:cNvSpPr/>
          <p:nvPr/>
        </p:nvSpPr>
        <p:spPr>
          <a:xfrm>
            <a:off x="502920" y="850320"/>
            <a:ext cx="10423800" cy="2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Catalog.json</a:t>
            </a:r>
            <a:r>
              <a:rPr lang="tr-TR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 </a:t>
            </a: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— sınıflandırmanın yanına anlam + geometri + yerleştirme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0"/>
          <p:cNvSpPr/>
          <p:nvPr/>
        </p:nvSpPr>
        <p:spPr>
          <a:xfrm>
            <a:off x="502920" y="1508760"/>
            <a:ext cx="6766200" cy="1078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11"/>
          <p:cNvSpPr/>
          <p:nvPr/>
        </p:nvSpPr>
        <p:spPr>
          <a:xfrm>
            <a:off x="502920" y="1508760"/>
            <a:ext cx="1691280" cy="107856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548640" y="1508760"/>
            <a:ext cx="159984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TAKSONOMİ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3"/>
          <p:cNvSpPr/>
          <p:nvPr/>
        </p:nvSpPr>
        <p:spPr>
          <a:xfrm>
            <a:off x="2331720" y="162756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id, category, subcategory, style, tags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Temel sınıflandırma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14"/>
          <p:cNvSpPr/>
          <p:nvPr/>
        </p:nvSpPr>
        <p:spPr>
          <a:xfrm>
            <a:off x="502920" y="2670120"/>
            <a:ext cx="6766200" cy="1078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15"/>
          <p:cNvSpPr/>
          <p:nvPr/>
        </p:nvSpPr>
        <p:spPr>
          <a:xfrm>
            <a:off x="502920" y="2670120"/>
            <a:ext cx="1691280" cy="107856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16"/>
          <p:cNvSpPr/>
          <p:nvPr/>
        </p:nvSpPr>
        <p:spPr>
          <a:xfrm>
            <a:off x="548640" y="2670120"/>
            <a:ext cx="159984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SEMANTİK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2331720" y="278892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semantic_tags, room_types, is_container, scale_class, compatible_with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Tema/niyet etiketleri, oda uyumu, eş varlıklar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18"/>
          <p:cNvSpPr/>
          <p:nvPr/>
        </p:nvSpPr>
        <p:spPr>
          <a:xfrm>
            <a:off x="502920" y="3831480"/>
            <a:ext cx="6766200" cy="1078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19"/>
          <p:cNvSpPr/>
          <p:nvPr/>
        </p:nvSpPr>
        <p:spPr>
          <a:xfrm>
            <a:off x="502920" y="3831480"/>
            <a:ext cx="1691280" cy="107856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20"/>
          <p:cNvSpPr/>
          <p:nvPr/>
        </p:nvSpPr>
        <p:spPr>
          <a:xfrm>
            <a:off x="548640" y="3831480"/>
            <a:ext cx="159984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GEOMETRİ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1"/>
          <p:cNvSpPr/>
          <p:nvPr/>
        </p:nvSpPr>
        <p:spPr>
          <a:xfrm>
            <a:off x="2331720" y="395028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footprint (taban ayak izi + açıklık payları), dimensions_m, poly_count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Boyut, poligon sayısı, açıklık payları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22"/>
          <p:cNvSpPr/>
          <p:nvPr/>
        </p:nvSpPr>
        <p:spPr>
          <a:xfrm>
            <a:off x="502920" y="4992480"/>
            <a:ext cx="6766200" cy="1078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Rectangle 23"/>
          <p:cNvSpPr/>
          <p:nvPr/>
        </p:nvSpPr>
        <p:spPr>
          <a:xfrm>
            <a:off x="502920" y="4992480"/>
            <a:ext cx="1691280" cy="1078560"/>
          </a:xfrm>
          <a:prstGeom prst="rect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24"/>
          <p:cNvSpPr/>
          <p:nvPr/>
        </p:nvSpPr>
        <p:spPr>
          <a:xfrm>
            <a:off x="548640" y="4992480"/>
            <a:ext cx="159984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YERLEŞTİRME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5"/>
          <p:cNvSpPr/>
          <p:nvPr/>
        </p:nvSpPr>
        <p:spPr>
          <a:xfrm>
            <a:off x="2331720" y="511164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placement.forward_axis, rules, anchor, confidence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Ön yön ekseni, kurallar, güven değeri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26"/>
          <p:cNvSpPr/>
          <p:nvPr/>
        </p:nvSpPr>
        <p:spPr>
          <a:xfrm>
            <a:off x="502920" y="6053400"/>
            <a:ext cx="6766200" cy="369360"/>
          </a:xfrm>
          <a:prstGeom prst="rect">
            <a:avLst/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27"/>
          <p:cNvSpPr/>
          <p:nvPr/>
        </p:nvSpPr>
        <p:spPr>
          <a:xfrm>
            <a:off x="640080" y="6166800"/>
            <a:ext cx="6583320" cy="16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Bina/ev varlıkları ek olarak container_meta + rooms (origin_offset_m, interior_bbox_local) taşır → çok katlı bina desteği.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28"/>
          <p:cNvSpPr/>
          <p:nvPr/>
        </p:nvSpPr>
        <p:spPr>
          <a:xfrm>
            <a:off x="7498080" y="1508760"/>
            <a:ext cx="4224240" cy="5047200"/>
          </a:xfrm>
          <a:prstGeom prst="rect">
            <a:avLst/>
          </a:prstGeom>
          <a:solidFill>
            <a:srgbClr val="102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29"/>
          <p:cNvSpPr/>
          <p:nvPr/>
        </p:nvSpPr>
        <p:spPr>
          <a:xfrm>
            <a:off x="7498080" y="1508760"/>
            <a:ext cx="4224240" cy="383760"/>
          </a:xfrm>
          <a:prstGeom prst="rect">
            <a:avLst/>
          </a:prstGeom>
          <a:solidFill>
            <a:srgbClr val="2136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30"/>
          <p:cNvSpPr/>
          <p:nvPr/>
        </p:nvSpPr>
        <p:spPr>
          <a:xfrm>
            <a:off x="7680960" y="15454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D3D1"/>
                </a:solidFill>
                <a:effectLst/>
                <a:uFillTx/>
                <a:latin typeface="Calibri"/>
              </a:rPr>
              <a:t>Örnek varlık metadatası (kısaltılmış)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1"/>
          <p:cNvSpPr/>
          <p:nvPr/>
        </p:nvSpPr>
        <p:spPr>
          <a:xfrm>
            <a:off x="7680960" y="1974960"/>
            <a:ext cx="3931560" cy="452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2C87A"/>
                </a:solidFill>
                <a:effectLst/>
                <a:uFillTx/>
                <a:latin typeface="Consolas"/>
              </a:rPr>
              <a:t>{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"id": "metal_office_desk_4k",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"category": "tables",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"subcategory": "desk",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"style": ["industrial"],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"semantic_tags": ["office",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2C87A"/>
                </a:solidFill>
                <a:effectLst/>
                <a:uFillTx/>
                <a:latin typeface="Consolas"/>
              </a:rPr>
              <a:t>       "work", "industrial"],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"room_types": ["office",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2C87A"/>
                </a:solidFill>
                <a:effectLst/>
                <a:uFillTx/>
                <a:latin typeface="Consolas"/>
              </a:rPr>
              <a:t>       "home_office", "study"],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"is_container": false,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"scale_class": "human",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"compatible_with":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2C87A"/>
                </a:solidFill>
                <a:effectLst/>
                <a:uFillTx/>
                <a:latin typeface="Consolas"/>
              </a:rPr>
              <a:t>       ["office_chair"],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"footprint": { "width_m": 2.0,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   "depth_m": 0.947,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   "clearance_front_m": 0.8 },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"placement": {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   "forward_axis": "-Y",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   "confidence": 1.0 },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CFE7F5"/>
                </a:solidFill>
                <a:effectLst/>
                <a:uFillTx/>
                <a:latin typeface="Consolas"/>
              </a:rPr>
              <a:t>  "poly_count": 3557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2C87A"/>
                </a:solidFill>
                <a:effectLst/>
                <a:uFillTx/>
                <a:latin typeface="Consolas"/>
              </a:rPr>
              <a:t>}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Çok-Ajanlı Tasarım Takımı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agno orkestrasyon çerçevesi · varsayılan gemini-2.5-flash, opsiyonel claude-sonnet-4-6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0"/>
          <p:cNvSpPr/>
          <p:nvPr/>
        </p:nvSpPr>
        <p:spPr>
          <a:xfrm>
            <a:off x="502920" y="14173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Tablo 4.2 — Ajanlar: roller, dosyalar ve başlıca araçlar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9" name="Table 11"/>
          <p:cNvGraphicFramePr/>
          <p:nvPr/>
        </p:nvGraphicFramePr>
        <p:xfrm>
          <a:off x="502920" y="1828800"/>
          <a:ext cx="11219400" cy="28332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Ajan (dosya)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Rolü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Başlıca Araçları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Mekân Analisti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(space_analyst.py)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İsteği çözümler; oda tipi/boyut/stil + slot listesi üretir; Workflow A/B kararı verir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get_room_preset, search_catalog,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list_house_assets, list_house_rooms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Mobilya Seçici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(furniture_selector.py)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Her slot için katalogdan en uygun varlığı seçer; eş varlıkları ekler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search_catalog, get_asset_details,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list_companions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Yerleşim Tasarımcısı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(layout_designer.py)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Her mobilyanın konum ve dönüşünü hesaplar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calculate_furniture_layout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Blender Yürütücü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(blender_executor.py)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Oda ve mobilyaları Blender'da inşa eder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check_blender_connection,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create_room_in_blender, import_assets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Rectangle 12"/>
          <p:cNvSpPr/>
          <p:nvPr/>
        </p:nvSpPr>
        <p:spPr>
          <a:xfrm>
            <a:off x="502920" y="4846320"/>
            <a:ext cx="11219400" cy="13255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Rectangle 13"/>
          <p:cNvSpPr/>
          <p:nvPr/>
        </p:nvSpPr>
        <p:spPr>
          <a:xfrm>
            <a:off x="502920" y="4846320"/>
            <a:ext cx="109440" cy="13255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14"/>
          <p:cNvSpPr/>
          <p:nvPr/>
        </p:nvSpPr>
        <p:spPr>
          <a:xfrm>
            <a:off x="777240" y="5010840"/>
            <a:ext cx="1078956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en-US" sz="1350" b="1" u="none" strike="noStrike">
                <a:solidFill>
                  <a:srgbClr val="F2A52E"/>
                </a:solidFill>
                <a:effectLst/>
                <a:uFillTx/>
                <a:latin typeface="Calibri"/>
              </a:rPr>
              <a:t>🔑  Kritik veri bütünlüğü sözleşmesi: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Yerleşim Tasarımcısı, calculate_furniture_layout çıktısını </a:t>
            </a:r>
            <a:r>
              <a:rPr lang="en-US" sz="12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hiçbir alanını değiştirmeden, özetlemeden ve markdown'a sarmadan birebir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Blender Yürütücü'ye aktarır — çünkü Yürütücü bu çıktıyı doğrudan JSON olarak ayrıştırır.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4</a:t>
            </a:r>
            <a:r>
              <a:rPr lang="tr-TR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 </a:t>
            </a: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· ÖZGÜN KATKI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Yerleştirme ve Geometri Mantığı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calculate_furniture_layout — sistemin en kritik algoritmik bileşeni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10"/>
          <p:cNvSpPr/>
          <p:nvPr/>
        </p:nvSpPr>
        <p:spPr>
          <a:xfrm>
            <a:off x="502920" y="1508760"/>
            <a:ext cx="772632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Oval 11"/>
          <p:cNvSpPr/>
          <p:nvPr/>
        </p:nvSpPr>
        <p:spPr>
          <a:xfrm>
            <a:off x="685800" y="1892880"/>
            <a:ext cx="603000" cy="60300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2"/>
          <p:cNvSpPr/>
          <p:nvPr/>
        </p:nvSpPr>
        <p:spPr>
          <a:xfrm>
            <a:off x="1508760" y="1636920"/>
            <a:ext cx="65833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300"/>
              </a:spcAft>
            </a:pPr>
            <a:r>
              <a:rPr lang="en-US" sz="13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İç Hacim Sınırlayıcı Kutu (interior bbox) Kırpma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container_id + room_id verilirse oda iç hacmi kataloğdan alınır; Workflow A'da oda boyutlarından duvar+pay düşülerek sentezlenir. Her konum bu kutuya çekilir → mobilya hiçbir koşulda oda/bina dışına taşmaz.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3"/>
          <p:cNvSpPr/>
          <p:nvPr/>
        </p:nvSpPr>
        <p:spPr>
          <a:xfrm>
            <a:off x="502920" y="2971800"/>
            <a:ext cx="772632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Oval 14"/>
          <p:cNvSpPr/>
          <p:nvPr/>
        </p:nvSpPr>
        <p:spPr>
          <a:xfrm>
            <a:off x="685800" y="3355920"/>
            <a:ext cx="603000" cy="60300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5"/>
          <p:cNvSpPr/>
          <p:nvPr/>
        </p:nvSpPr>
        <p:spPr>
          <a:xfrm>
            <a:off x="1508760" y="3099960"/>
            <a:ext cx="6583320" cy="60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300"/>
              </a:spcAft>
            </a:pPr>
            <a:r>
              <a:rPr lang="en-US" sz="13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Kırpmanın Bağıl Yerleşimlere Yansıtılması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Masa kırpıldığında konumu değişir; ona referans veren sandalyenin ("masanın önünde") doğru konumlanması için kırpılmış konum placed[]'a yazılır → nesneler arası göreli geometri korunur.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ectangle 16"/>
          <p:cNvSpPr/>
          <p:nvPr/>
        </p:nvSpPr>
        <p:spPr>
          <a:xfrm>
            <a:off x="502920" y="4434840"/>
            <a:ext cx="772632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Oval 17"/>
          <p:cNvSpPr/>
          <p:nvPr/>
        </p:nvSpPr>
        <p:spPr>
          <a:xfrm>
            <a:off x="685800" y="4818960"/>
            <a:ext cx="603000" cy="603000"/>
          </a:xfrm>
          <a:prstGeom prst="ellipse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18"/>
          <p:cNvSpPr/>
          <p:nvPr/>
        </p:nvSpPr>
        <p:spPr>
          <a:xfrm>
            <a:off x="1508760" y="4563000"/>
            <a:ext cx="65833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300"/>
              </a:spcAft>
            </a:pPr>
            <a:r>
              <a:rPr lang="en-US" sz="13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Bağıl Yönelim (relative facing)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"Önünde" / "masa kenarı" yerleşimlerinde gereken dönüş açısı hesaplanır; katalogdaki forward_axis'ten türeyen facing_correction_z eklenir (modeller +Y veya −Y ön eksenli olabilir).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19"/>
          <p:cNvSpPr/>
          <p:nvPr/>
        </p:nvSpPr>
        <p:spPr>
          <a:xfrm>
            <a:off x="8458200" y="1508760"/>
            <a:ext cx="3264120" cy="45259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ectangle 20"/>
          <p:cNvSpPr/>
          <p:nvPr/>
        </p:nvSpPr>
        <p:spPr>
          <a:xfrm>
            <a:off x="8458200" y="1508760"/>
            <a:ext cx="3264120" cy="45684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21"/>
          <p:cNvSpPr/>
          <p:nvPr/>
        </p:nvSpPr>
        <p:spPr>
          <a:xfrm>
            <a:off x="8595360" y="1649520"/>
            <a:ext cx="301716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Yerleştirme Tipleri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22"/>
          <p:cNvSpPr/>
          <p:nvPr/>
        </p:nvSpPr>
        <p:spPr>
          <a:xfrm>
            <a:off x="8641080" y="210312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Duvar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CFDFEE"/>
                </a:solidFill>
                <a:effectLst/>
                <a:uFillTx/>
                <a:latin typeface="Calibri"/>
              </a:rPr>
              <a:t>north / south / east / west_wall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3"/>
          <p:cNvSpPr/>
          <p:nvPr/>
        </p:nvSpPr>
        <p:spPr>
          <a:xfrm>
            <a:off x="8641080" y="303588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Köşe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CFDFEE"/>
                </a:solidFill>
                <a:effectLst/>
                <a:uFillTx/>
                <a:latin typeface="Calibri"/>
              </a:rPr>
              <a:t>corner_nw / ne / sw / 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4"/>
          <p:cNvSpPr/>
          <p:nvPr/>
        </p:nvSpPr>
        <p:spPr>
          <a:xfrm>
            <a:off x="8641080" y="396864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Merkez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CFDFEE"/>
                </a:solidFill>
                <a:effectLst/>
                <a:uFillTx/>
                <a:latin typeface="Calibri"/>
              </a:rPr>
              <a:t>center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25"/>
          <p:cNvSpPr/>
          <p:nvPr/>
        </p:nvSpPr>
        <p:spPr>
          <a:xfrm>
            <a:off x="8627400" y="474120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Bağıl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CFDFEE"/>
                </a:solidFill>
                <a:effectLst/>
                <a:uFillTx/>
                <a:latin typeface="Calibri"/>
              </a:rPr>
              <a:t>in_front_of:&lt;slot&gt;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CFDFEE"/>
                </a:solidFill>
                <a:effectLst/>
                <a:uFillTx/>
                <a:latin typeface="Calibri"/>
              </a:rPr>
              <a:t>beside:&lt;slot&gt;:left/right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CFDFEE"/>
                </a:solidFill>
                <a:effectLst/>
                <a:uFillTx/>
                <a:latin typeface="Calibri"/>
              </a:rPr>
              <a:t>table_side: n/s/e/w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26"/>
          <p:cNvSpPr/>
          <p:nvPr/>
        </p:nvSpPr>
        <p:spPr>
          <a:xfrm>
            <a:off x="8641080" y="56419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9FB6CC"/>
                </a:solidFill>
                <a:effectLst/>
                <a:uFillTx/>
                <a:latin typeface="Calibri"/>
              </a:rPr>
              <a:t>Öncelik: önce odak noktaları (masa), sonra bağıl, en son duvar/köşe.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Blender Eklentisi ve HTTP Köprüsü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Sahneyi gerçek zamanlı inşa eden Python eklentisi · port 8766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0"/>
          <p:cNvSpPr/>
          <p:nvPr/>
        </p:nvSpPr>
        <p:spPr>
          <a:xfrm>
            <a:off x="502920" y="1554480"/>
            <a:ext cx="54860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6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3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N paneli → "Asset Library" sekmesi</a:t>
            </a:r>
            <a:r>
              <a:rPr lang="en-US" sz="13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→ "Start Server" düğmesi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3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Bloklamayan (non-blocking) HTTP sunucusu</a:t>
            </a:r>
            <a:r>
              <a:rPr lang="en-US" sz="13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— Blender ana iş parçacığını kilitlemez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3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Gelen JSON istekleri kuyruğa alınır</a:t>
            </a:r>
            <a:r>
              <a:rPr lang="en-US" sz="13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ve modal zamanlayıcı ile işlenir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3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Eylem-işleyici (action-handler) kayıt defteri</a:t>
            </a:r>
            <a:r>
              <a:rPr lang="en-US" sz="13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üzerinden çalışır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11"/>
          <p:cNvSpPr/>
          <p:nvPr/>
        </p:nvSpPr>
        <p:spPr>
          <a:xfrm>
            <a:off x="502920" y="4027680"/>
            <a:ext cx="5486040" cy="1874160"/>
          </a:xfrm>
          <a:prstGeom prst="rect">
            <a:avLst/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Rectangle 12"/>
          <p:cNvSpPr/>
          <p:nvPr/>
        </p:nvSpPr>
        <p:spPr>
          <a:xfrm>
            <a:off x="502920" y="4027680"/>
            <a:ext cx="91080" cy="187416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13"/>
          <p:cNvSpPr/>
          <p:nvPr/>
        </p:nvSpPr>
        <p:spPr>
          <a:xfrm>
            <a:off x="731520" y="41648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Kalibrasyon eylemleri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14"/>
          <p:cNvSpPr/>
          <p:nvPr/>
        </p:nvSpPr>
        <p:spPr>
          <a:xfrm>
            <a:off x="731520" y="4576320"/>
            <a:ext cx="50745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get_3d_cursor: </a:t>
            </a: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kullanıcı 3B imleci odaya koyar → oda orijini ölçülür. 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test_asset_facing: </a:t>
            </a: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varlık dönüşsüz içe aktarılır → ön yön (forward axis) görsel tespit edilir.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5"/>
          <p:cNvSpPr/>
          <p:nvPr/>
        </p:nvSpPr>
        <p:spPr>
          <a:xfrm>
            <a:off x="6263640" y="1463040"/>
            <a:ext cx="54860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HTTP eylem (handler) listesi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4" name="Table 16"/>
          <p:cNvGraphicFramePr/>
          <p:nvPr/>
        </p:nvGraphicFramePr>
        <p:xfrm>
          <a:off x="6263640" y="1874520"/>
          <a:ext cx="5458680" cy="2741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Eylem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İşlev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1E5F9E"/>
                          </a:solidFill>
                          <a:effectLst/>
                          <a:uFillTx/>
                          <a:latin typeface="Consolas"/>
                        </a:rPr>
                        <a:t>import_blend_asset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Bir .blend'i içe aktarır; konum/dönüş/ölçek uygular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1E5F9E"/>
                          </a:solidFill>
                          <a:effectLst/>
                          <a:uFillTx/>
                          <a:latin typeface="Consolas"/>
                        </a:rPr>
                        <a:t>create_room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Zemin + dört duvardan oda oluşturur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1E5F9E"/>
                          </a:solidFill>
                          <a:effectLst/>
                          <a:uFillTx/>
                          <a:latin typeface="Consolas"/>
                        </a:rPr>
                        <a:t>list_scene_objects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Sahnedeki nesneleri konum/boyutla listeler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1E5F9E"/>
                          </a:solidFill>
                          <a:effectLst/>
                          <a:uFillTx/>
                          <a:latin typeface="Consolas"/>
                        </a:rPr>
                        <a:t>test_asset_facing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Varlığı orijinde dönüşsüz içe aktarır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1E5F9E"/>
                          </a:solidFill>
                          <a:effectLst/>
                          <a:uFillTx/>
                          <a:latin typeface="Consolas"/>
                        </a:rPr>
                        <a:t>get_3d_cursor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3B imleç konumunu döndürür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1E5F9E"/>
                          </a:solidFill>
                          <a:effectLst/>
                          <a:uFillTx/>
                          <a:latin typeface="Consolas"/>
                        </a:rPr>
                        <a:t>delete_objects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İsim listesine göre nesneleri siler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5" name="TextBox 17"/>
          <p:cNvSpPr/>
          <p:nvPr/>
        </p:nvSpPr>
        <p:spPr>
          <a:xfrm>
            <a:off x="6263640" y="4800600"/>
            <a:ext cx="5458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en-US" sz="11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import_blend_asset: </a:t>
            </a: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içe aktarmadan önce/sonra nesne kümelerini karşılaştırarak yeni kökleri bulur; dönüşümleri yalnızca köklere uygular; dereceyi radyana çevirip rotation_euler'a işler.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</a:t>
            </a:r>
            <a:r>
              <a:rPr lang="tr-TR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4 </a:t>
            </a: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· ÖZGÜN KATKI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Otomatik Kategorize (auto_categorize) İşlem Hattı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Bir .blend → v2 katalog girdisi: beş aşamalı hibrit akış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10"/>
          <p:cNvSpPr/>
          <p:nvPr/>
        </p:nvSpPr>
        <p:spPr>
          <a:xfrm>
            <a:off x="502920" y="1554480"/>
            <a:ext cx="2194200" cy="2605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ectangle 11"/>
          <p:cNvSpPr/>
          <p:nvPr/>
        </p:nvSpPr>
        <p:spPr>
          <a:xfrm>
            <a:off x="502920" y="1554480"/>
            <a:ext cx="2194200" cy="77688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Oval 12"/>
          <p:cNvSpPr/>
          <p:nvPr/>
        </p:nvSpPr>
        <p:spPr>
          <a:xfrm>
            <a:off x="640080" y="1664280"/>
            <a:ext cx="548280" cy="548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3"/>
          <p:cNvSpPr/>
          <p:nvPr/>
        </p:nvSpPr>
        <p:spPr>
          <a:xfrm>
            <a:off x="1252800" y="162756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Dosya Adı + Malzeme Örüntü Analizi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14"/>
          <p:cNvSpPr/>
          <p:nvPr/>
        </p:nvSpPr>
        <p:spPr>
          <a:xfrm>
            <a:off x="667440" y="2468880"/>
            <a:ext cx="18651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Anahtar kelime puanlamasıyla kategori, alt-kategori, stil, etiketler + güven değeri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Chevron 15"/>
          <p:cNvSpPr/>
          <p:nvPr/>
        </p:nvSpPr>
        <p:spPr>
          <a:xfrm>
            <a:off x="2572560" y="2686320"/>
            <a:ext cx="164160" cy="31968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ectangle 16"/>
          <p:cNvSpPr/>
          <p:nvPr/>
        </p:nvSpPr>
        <p:spPr>
          <a:xfrm>
            <a:off x="2761560" y="1554480"/>
            <a:ext cx="2194200" cy="2605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ectangle 17"/>
          <p:cNvSpPr/>
          <p:nvPr/>
        </p:nvSpPr>
        <p:spPr>
          <a:xfrm>
            <a:off x="2761560" y="1554480"/>
            <a:ext cx="2194200" cy="77688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Oval 18"/>
          <p:cNvSpPr/>
          <p:nvPr/>
        </p:nvSpPr>
        <p:spPr>
          <a:xfrm>
            <a:off x="2898720" y="1664280"/>
            <a:ext cx="548280" cy="548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19"/>
          <p:cNvSpPr/>
          <p:nvPr/>
        </p:nvSpPr>
        <p:spPr>
          <a:xfrm>
            <a:off x="3511440" y="162756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Blender Başsız (headless) Ölçüm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0"/>
          <p:cNvSpPr/>
          <p:nvPr/>
        </p:nvSpPr>
        <p:spPr>
          <a:xfrm>
            <a:off x="2926080" y="2468880"/>
            <a:ext cx="18651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bbox, W×D×H, poligon sayısı, malzeme yuvaları ve XY düzleminde PCA açısı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Chevron 21"/>
          <p:cNvSpPr/>
          <p:nvPr/>
        </p:nvSpPr>
        <p:spPr>
          <a:xfrm>
            <a:off x="4855320" y="2697480"/>
            <a:ext cx="164160" cy="31968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22"/>
          <p:cNvSpPr/>
          <p:nvPr/>
        </p:nvSpPr>
        <p:spPr>
          <a:xfrm>
            <a:off x="5020200" y="1554480"/>
            <a:ext cx="2194200" cy="2605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ectangle 23"/>
          <p:cNvSpPr/>
          <p:nvPr/>
        </p:nvSpPr>
        <p:spPr>
          <a:xfrm>
            <a:off x="5020200" y="1554480"/>
            <a:ext cx="2194200" cy="77688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Oval 24"/>
          <p:cNvSpPr/>
          <p:nvPr/>
        </p:nvSpPr>
        <p:spPr>
          <a:xfrm>
            <a:off x="5157360" y="1664280"/>
            <a:ext cx="548280" cy="548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2A52E"/>
                </a:solidFill>
                <a:effectLst/>
                <a:uFillTx/>
                <a:latin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5"/>
          <p:cNvSpPr/>
          <p:nvPr/>
        </p:nvSpPr>
        <p:spPr>
          <a:xfrm>
            <a:off x="5769720" y="162756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Ön Yön (forward axis) Tespiti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26"/>
          <p:cNvSpPr/>
          <p:nvPr/>
        </p:nvSpPr>
        <p:spPr>
          <a:xfrm>
            <a:off x="5184720" y="2468880"/>
            <a:ext cx="18651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PCA uzun ekseni + kategori bazlı sezgisel kurallar; simetrik nesnelerde güven düşük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Chevron 27"/>
          <p:cNvSpPr/>
          <p:nvPr/>
        </p:nvSpPr>
        <p:spPr>
          <a:xfrm>
            <a:off x="7104240" y="2697480"/>
            <a:ext cx="164160" cy="31968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Rectangle 28"/>
          <p:cNvSpPr/>
          <p:nvPr/>
        </p:nvSpPr>
        <p:spPr>
          <a:xfrm>
            <a:off x="7278480" y="1554480"/>
            <a:ext cx="2194200" cy="2605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Rectangle 29"/>
          <p:cNvSpPr/>
          <p:nvPr/>
        </p:nvSpPr>
        <p:spPr>
          <a:xfrm>
            <a:off x="7278480" y="1554480"/>
            <a:ext cx="2194200" cy="776880"/>
          </a:xfrm>
          <a:prstGeom prst="rect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Oval 30"/>
          <p:cNvSpPr/>
          <p:nvPr/>
        </p:nvSpPr>
        <p:spPr>
          <a:xfrm>
            <a:off x="7415640" y="1664280"/>
            <a:ext cx="548280" cy="548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E9E5B"/>
                </a:solidFill>
                <a:effectLst/>
                <a:uFillTx/>
                <a:latin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1"/>
          <p:cNvSpPr/>
          <p:nvPr/>
        </p:nvSpPr>
        <p:spPr>
          <a:xfrm>
            <a:off x="8028360" y="162756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Semantik Katman Türetimi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2"/>
          <p:cNvSpPr/>
          <p:nvPr/>
        </p:nvSpPr>
        <p:spPr>
          <a:xfrm>
            <a:off x="7443360" y="2468880"/>
            <a:ext cx="18651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Alt-kategoriden room_types, compatible_with ve semantic_tags üretimi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Chevron 33"/>
          <p:cNvSpPr/>
          <p:nvPr/>
        </p:nvSpPr>
        <p:spPr>
          <a:xfrm>
            <a:off x="9349560" y="2697480"/>
            <a:ext cx="164160" cy="319680"/>
          </a:xfrm>
          <a:prstGeom prst="chevron">
            <a:avLst>
              <a:gd name="adj" fmla="val 50000"/>
            </a:avLst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ectangle 34"/>
          <p:cNvSpPr/>
          <p:nvPr/>
        </p:nvSpPr>
        <p:spPr>
          <a:xfrm>
            <a:off x="9537120" y="1554480"/>
            <a:ext cx="2194200" cy="2605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ectangle 35"/>
          <p:cNvSpPr/>
          <p:nvPr/>
        </p:nvSpPr>
        <p:spPr>
          <a:xfrm>
            <a:off x="9537120" y="1554480"/>
            <a:ext cx="2194200" cy="77688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Oval 36"/>
          <p:cNvSpPr/>
          <p:nvPr/>
        </p:nvSpPr>
        <p:spPr>
          <a:xfrm>
            <a:off x="9674280" y="1664280"/>
            <a:ext cx="548280" cy="548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37"/>
          <p:cNvSpPr/>
          <p:nvPr/>
        </p:nvSpPr>
        <p:spPr>
          <a:xfrm>
            <a:off x="10287000" y="162756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Dil Modeli ile Zenginleştirme (ops.)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38"/>
          <p:cNvSpPr/>
          <p:nvPr/>
        </p:nvSpPr>
        <p:spPr>
          <a:xfrm>
            <a:off x="9701640" y="2468880"/>
            <a:ext cx="18651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Güven eşiğin altındaysa Gemini (temperature=0, JSON) ile semantik alanlar rafine edilir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ectangle 39"/>
          <p:cNvSpPr/>
          <p:nvPr/>
        </p:nvSpPr>
        <p:spPr>
          <a:xfrm>
            <a:off x="511920" y="4023360"/>
            <a:ext cx="11219400" cy="1691280"/>
          </a:xfrm>
          <a:prstGeom prst="rect">
            <a:avLst/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Rectangle 40"/>
          <p:cNvSpPr/>
          <p:nvPr/>
        </p:nvSpPr>
        <p:spPr>
          <a:xfrm>
            <a:off x="511920" y="4023360"/>
            <a:ext cx="109440" cy="169128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41"/>
          <p:cNvSpPr/>
          <p:nvPr/>
        </p:nvSpPr>
        <p:spPr>
          <a:xfrm>
            <a:off x="786240" y="41788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Araçlara entegrasyon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2"/>
          <p:cNvSpPr/>
          <p:nvPr/>
        </p:nvSpPr>
        <p:spPr>
          <a:xfrm>
            <a:off x="786240" y="4617720"/>
            <a:ext cx="10835280" cy="49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add_asset.py: 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akışı çalıştırır; düşük güvenli alanları kullanıcı onayına sunar; onaylanan varlığı models/&lt;kategori&gt;/&lt;id&gt;/ altına taşır ve Catalog.json'a yazar.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1E5F9E"/>
                </a:solidFill>
                <a:effectLst/>
                <a:uFillTx/>
                <a:latin typeface="Calibri"/>
              </a:rPr>
              <a:t>recategorize_existing.py: 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mevcut kataloğu yeniden ölçer ve farkları yan yana gösteren doğrulama aracıdır. Manuel etiketlemeye kıyasla hız + tutarlılık kazandırır.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 Arayüzü ve Teknoloji Yığını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prompt_builder.html · sağlayıcıdan bağımsız Python tabanlı yığın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10"/>
          <p:cNvSpPr/>
          <p:nvPr/>
        </p:nvSpPr>
        <p:spPr>
          <a:xfrm>
            <a:off x="502920" y="1508760"/>
            <a:ext cx="5348880" cy="461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Rectangle 11"/>
          <p:cNvSpPr/>
          <p:nvPr/>
        </p:nvSpPr>
        <p:spPr>
          <a:xfrm>
            <a:off x="502920" y="1508760"/>
            <a:ext cx="5348880" cy="54828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Box 12"/>
          <p:cNvSpPr/>
          <p:nvPr/>
        </p:nvSpPr>
        <p:spPr>
          <a:xfrm>
            <a:off x="731520" y="153612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🖥  Web Tabanlı Kullanıcı Arayüzü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3"/>
          <p:cNvSpPr/>
          <p:nvPr/>
        </p:nvSpPr>
        <p:spPr>
          <a:xfrm>
            <a:off x="731520" y="21945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Tek sayfalık uygulama · Tailwind CSS · asenkron fetch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ounded Rectangle 14"/>
          <p:cNvSpPr/>
          <p:nvPr/>
        </p:nvSpPr>
        <p:spPr>
          <a:xfrm>
            <a:off x="731520" y="2606040"/>
            <a:ext cx="1142640" cy="383760"/>
          </a:xfrm>
          <a:prstGeom prst="roundRect">
            <a:avLst>
              <a:gd name="adj" fmla="val 50000"/>
            </a:avLst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Tasarım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ounded Rectangle 15"/>
          <p:cNvSpPr/>
          <p:nvPr/>
        </p:nvSpPr>
        <p:spPr>
          <a:xfrm>
            <a:off x="1947600" y="2606040"/>
            <a:ext cx="1142640" cy="383760"/>
          </a:xfrm>
          <a:prstGeom prst="roundRect">
            <a:avLst>
              <a:gd name="adj" fmla="val 50000"/>
            </a:avLst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Sahne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16"/>
          <p:cNvSpPr/>
          <p:nvPr/>
        </p:nvSpPr>
        <p:spPr>
          <a:xfrm>
            <a:off x="3163680" y="2606040"/>
            <a:ext cx="1142640" cy="383760"/>
          </a:xfrm>
          <a:prstGeom prst="roundRect">
            <a:avLst>
              <a:gd name="adj" fmla="val 50000"/>
            </a:avLst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Materyal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ounded Rectangle 17"/>
          <p:cNvSpPr/>
          <p:nvPr/>
        </p:nvSpPr>
        <p:spPr>
          <a:xfrm>
            <a:off x="4380120" y="2606040"/>
            <a:ext cx="1142640" cy="383760"/>
          </a:xfrm>
          <a:prstGeom prst="roundRect">
            <a:avLst>
              <a:gd name="adj" fmla="val 50000"/>
            </a:avLst>
          </a:prstGeom>
          <a:solidFill>
            <a:srgbClr val="E9EF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12600" rIns="50760" bIns="12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Oda Çiz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8"/>
          <p:cNvSpPr/>
          <p:nvPr/>
        </p:nvSpPr>
        <p:spPr>
          <a:xfrm>
            <a:off x="731520" y="3200400"/>
            <a:ext cx="493740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Dil modeli seçimi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(Gemini / Claude)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Serbest metin giriş alanı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"Prompt Geliştir"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— isteği yapılandırılmış slot listesine çevirir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"Yapboz" 2B düzenleyici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— sürükle, çift tıkla 90° döndür, yön pusulası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Ajan kararlarını elle override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etme imkânı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▸  </a:t>
            </a:r>
            <a:r>
              <a:rPr lang="en-US" sz="1200" b="1" u="none" strike="noStrike">
                <a:solidFill>
                  <a:srgbClr val="1B2A38"/>
                </a:solidFill>
                <a:effectLst/>
                <a:uFillTx/>
                <a:latin typeface="Calibri"/>
              </a:rPr>
              <a:t>"Ev Modeli Tasarımı"</a:t>
            </a: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 — bina/oda/stil seçici + 3B imleç ile oda orijini kaydı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19"/>
          <p:cNvSpPr/>
          <p:nvPr/>
        </p:nvSpPr>
        <p:spPr>
          <a:xfrm>
            <a:off x="6126480" y="1463040"/>
            <a:ext cx="54860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Teknoloji yığını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7" name="Table 20"/>
          <p:cNvGraphicFramePr/>
          <p:nvPr/>
        </p:nvGraphicFramePr>
        <p:xfrm>
          <a:off x="6126480" y="1874520"/>
          <a:ext cx="5595840" cy="41580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Bileşen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Teknoloji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Programlama dili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Python ≥ 3.10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Çok-ajanlı orkestrasyon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agno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Araç sunucusu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FastMCP (Model Context Protocol)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Web / API sunucusu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FastAPI + uvicorn (ASGI)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HTTP istemcisi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httpx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Veri doğrulama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pydantic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LLM sağlayıcıları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google-genai (Gemini) · anthropic (Claude)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Yapılandırma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python-dotenv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3B ortam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Blender 4.5+ (bpy)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</a:rPr>
                        <a:t>Arayüz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B2A38"/>
                          </a:solidFill>
                          <a:effectLst/>
                          <a:uFillTx/>
                          <a:latin typeface="Calibri"/>
                        </a:rPr>
                        <a:t>HTML + Tailwind CSS + JS (SVG)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8560" marR="63360" marT="25200" marB="25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ctangle 1"/>
          <p:cNvSpPr/>
          <p:nvPr/>
        </p:nvSpPr>
        <p:spPr>
          <a:xfrm>
            <a:off x="0" y="0"/>
            <a:ext cx="12191400" cy="120672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Rectangle 2"/>
          <p:cNvSpPr/>
          <p:nvPr/>
        </p:nvSpPr>
        <p:spPr>
          <a:xfrm>
            <a:off x="0" y="1207080"/>
            <a:ext cx="12191400" cy="504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Rectangle 3"/>
          <p:cNvSpPr/>
          <p:nvPr/>
        </p:nvSpPr>
        <p:spPr>
          <a:xfrm>
            <a:off x="0" y="0"/>
            <a:ext cx="145800" cy="120672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4"/>
          <p:cNvSpPr/>
          <p:nvPr/>
        </p:nvSpPr>
        <p:spPr>
          <a:xfrm>
            <a:off x="502920" y="146160"/>
            <a:ext cx="960084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BÖLÜM 5 — SEQUENCE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5"/>
          <p:cNvSpPr/>
          <p:nvPr/>
        </p:nvSpPr>
        <p:spPr>
          <a:xfrm>
            <a:off x="502920" y="40248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Uçtan Uca Bir İsteğin Akışı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6"/>
          <p:cNvSpPr/>
          <p:nvPr/>
        </p:nvSpPr>
        <p:spPr>
          <a:xfrm>
            <a:off x="502920" y="850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Örnek: "5x4 ofise endüstriyel masa ve sandalye koy"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Oval 7"/>
          <p:cNvSpPr/>
          <p:nvPr/>
        </p:nvSpPr>
        <p:spPr>
          <a:xfrm>
            <a:off x="11277360" y="311040"/>
            <a:ext cx="566640" cy="5666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15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8"/>
          <p:cNvSpPr/>
          <p:nvPr/>
        </p:nvSpPr>
        <p:spPr>
          <a:xfrm>
            <a:off x="50292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9"/>
          <p:cNvSpPr/>
          <p:nvPr/>
        </p:nvSpPr>
        <p:spPr>
          <a:xfrm>
            <a:off x="889992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Marmara Üniversitesi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10"/>
          <p:cNvSpPr/>
          <p:nvPr/>
        </p:nvSpPr>
        <p:spPr>
          <a:xfrm>
            <a:off x="1188720" y="1554480"/>
            <a:ext cx="97837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Rectangle 11"/>
          <p:cNvSpPr/>
          <p:nvPr/>
        </p:nvSpPr>
        <p:spPr>
          <a:xfrm>
            <a:off x="1188720" y="1554480"/>
            <a:ext cx="91080" cy="56664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Oval 12"/>
          <p:cNvSpPr/>
          <p:nvPr/>
        </p:nvSpPr>
        <p:spPr>
          <a:xfrm>
            <a:off x="567000" y="1591200"/>
            <a:ext cx="493560" cy="49356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13"/>
          <p:cNvSpPr/>
          <p:nvPr/>
        </p:nvSpPr>
        <p:spPr>
          <a:xfrm>
            <a:off x="1417320" y="155448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Kullanıcı → Web UI / CLI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5440680" y="1554480"/>
            <a:ext cx="5394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"5x4 ofise endüstriyel masa ve sandalye koy"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15"/>
          <p:cNvSpPr/>
          <p:nvPr/>
        </p:nvSpPr>
        <p:spPr>
          <a:xfrm>
            <a:off x="795600" y="2084760"/>
            <a:ext cx="27720" cy="118440"/>
          </a:xfrm>
          <a:prstGeom prst="rect">
            <a:avLst/>
          </a:prstGeom>
          <a:solidFill>
            <a:srgbClr val="C4D2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Rectangle 16"/>
          <p:cNvSpPr/>
          <p:nvPr/>
        </p:nvSpPr>
        <p:spPr>
          <a:xfrm>
            <a:off x="1188720" y="2203560"/>
            <a:ext cx="97837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Rectangle 17"/>
          <p:cNvSpPr/>
          <p:nvPr/>
        </p:nvSpPr>
        <p:spPr>
          <a:xfrm>
            <a:off x="1188720" y="2203560"/>
            <a:ext cx="91080" cy="566640"/>
          </a:xfrm>
          <a:prstGeom prst="rect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Oval 18"/>
          <p:cNvSpPr/>
          <p:nvPr/>
        </p:nvSpPr>
        <p:spPr>
          <a:xfrm>
            <a:off x="567000" y="2240280"/>
            <a:ext cx="493560" cy="49356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9"/>
          <p:cNvSpPr/>
          <p:nvPr/>
        </p:nvSpPr>
        <p:spPr>
          <a:xfrm>
            <a:off x="1417320" y="220356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team.py → Mekân Analisti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20"/>
          <p:cNvSpPr/>
          <p:nvPr/>
        </p:nvSpPr>
        <p:spPr>
          <a:xfrm>
            <a:off x="5440680" y="2203560"/>
            <a:ext cx="5394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cümleyi çözümle → {oda, slotlar, workflow}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21"/>
          <p:cNvSpPr/>
          <p:nvPr/>
        </p:nvSpPr>
        <p:spPr>
          <a:xfrm>
            <a:off x="795600" y="2734200"/>
            <a:ext cx="27720" cy="118440"/>
          </a:xfrm>
          <a:prstGeom prst="rect">
            <a:avLst/>
          </a:prstGeom>
          <a:solidFill>
            <a:srgbClr val="C4D2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Rectangle 22"/>
          <p:cNvSpPr/>
          <p:nvPr/>
        </p:nvSpPr>
        <p:spPr>
          <a:xfrm>
            <a:off x="1188720" y="2853000"/>
            <a:ext cx="97837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Rectangle 23"/>
          <p:cNvSpPr/>
          <p:nvPr/>
        </p:nvSpPr>
        <p:spPr>
          <a:xfrm>
            <a:off x="1188720" y="2853000"/>
            <a:ext cx="91080" cy="566640"/>
          </a:xfrm>
          <a:prstGeom prst="rect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Oval 24"/>
          <p:cNvSpPr/>
          <p:nvPr/>
        </p:nvSpPr>
        <p:spPr>
          <a:xfrm>
            <a:off x="567000" y="2889360"/>
            <a:ext cx="493560" cy="493560"/>
          </a:xfrm>
          <a:prstGeom prst="ellipse">
            <a:avLst/>
          </a:prstGeom>
          <a:solidFill>
            <a:srgbClr val="16A0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25"/>
          <p:cNvSpPr/>
          <p:nvPr/>
        </p:nvSpPr>
        <p:spPr>
          <a:xfrm>
            <a:off x="1417320" y="285300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team.py → Mobilya Seçici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26"/>
          <p:cNvSpPr/>
          <p:nvPr/>
        </p:nvSpPr>
        <p:spPr>
          <a:xfrm>
            <a:off x="5440680" y="2853000"/>
            <a:ext cx="5394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slotları doldur → seçilen varlıklar (JSON)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27"/>
          <p:cNvSpPr/>
          <p:nvPr/>
        </p:nvSpPr>
        <p:spPr>
          <a:xfrm>
            <a:off x="795600" y="3383280"/>
            <a:ext cx="27720" cy="118440"/>
          </a:xfrm>
          <a:prstGeom prst="rect">
            <a:avLst/>
          </a:prstGeom>
          <a:solidFill>
            <a:srgbClr val="C4D2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Rectangle 28"/>
          <p:cNvSpPr/>
          <p:nvPr/>
        </p:nvSpPr>
        <p:spPr>
          <a:xfrm>
            <a:off x="1188720" y="3502080"/>
            <a:ext cx="97837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Rectangle 29"/>
          <p:cNvSpPr/>
          <p:nvPr/>
        </p:nvSpPr>
        <p:spPr>
          <a:xfrm>
            <a:off x="1188720" y="3502080"/>
            <a:ext cx="91080" cy="56664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Oval 30"/>
          <p:cNvSpPr/>
          <p:nvPr/>
        </p:nvSpPr>
        <p:spPr>
          <a:xfrm>
            <a:off x="567000" y="3538800"/>
            <a:ext cx="493560" cy="493560"/>
          </a:xfrm>
          <a:prstGeom prst="ellipse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31"/>
          <p:cNvSpPr/>
          <p:nvPr/>
        </p:nvSpPr>
        <p:spPr>
          <a:xfrm>
            <a:off x="1417320" y="350208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team.py → Yerleşim Tasarımcısı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2"/>
          <p:cNvSpPr/>
          <p:nvPr/>
        </p:nvSpPr>
        <p:spPr>
          <a:xfrm>
            <a:off x="5440680" y="3502080"/>
            <a:ext cx="5394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calculate_furniture_layout(...) → konum/dönüş (kırpılmış)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33"/>
          <p:cNvSpPr/>
          <p:nvPr/>
        </p:nvSpPr>
        <p:spPr>
          <a:xfrm>
            <a:off x="795600" y="4032360"/>
            <a:ext cx="27720" cy="118440"/>
          </a:xfrm>
          <a:prstGeom prst="rect">
            <a:avLst/>
          </a:prstGeom>
          <a:solidFill>
            <a:srgbClr val="C4D2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Rectangle 34"/>
          <p:cNvSpPr/>
          <p:nvPr/>
        </p:nvSpPr>
        <p:spPr>
          <a:xfrm>
            <a:off x="1188720" y="4151520"/>
            <a:ext cx="97837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Rectangle 35"/>
          <p:cNvSpPr/>
          <p:nvPr/>
        </p:nvSpPr>
        <p:spPr>
          <a:xfrm>
            <a:off x="1188720" y="4151520"/>
            <a:ext cx="91080" cy="566640"/>
          </a:xfrm>
          <a:prstGeom prst="rect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Oval 36"/>
          <p:cNvSpPr/>
          <p:nvPr/>
        </p:nvSpPr>
        <p:spPr>
          <a:xfrm>
            <a:off x="567000" y="4187880"/>
            <a:ext cx="493560" cy="49356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37"/>
          <p:cNvSpPr/>
          <p:nvPr/>
        </p:nvSpPr>
        <p:spPr>
          <a:xfrm>
            <a:off x="1417320" y="415152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team.py → Blender Yürütücü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8"/>
          <p:cNvSpPr/>
          <p:nvPr/>
        </p:nvSpPr>
        <p:spPr>
          <a:xfrm>
            <a:off x="5440680" y="4151520"/>
            <a:ext cx="5394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create_room / import_assets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39"/>
          <p:cNvSpPr/>
          <p:nvPr/>
        </p:nvSpPr>
        <p:spPr>
          <a:xfrm>
            <a:off x="795600" y="4681800"/>
            <a:ext cx="27720" cy="118440"/>
          </a:xfrm>
          <a:prstGeom prst="rect">
            <a:avLst/>
          </a:prstGeom>
          <a:solidFill>
            <a:srgbClr val="C4D2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Rectangle 40"/>
          <p:cNvSpPr/>
          <p:nvPr/>
        </p:nvSpPr>
        <p:spPr>
          <a:xfrm>
            <a:off x="1188720" y="4800600"/>
            <a:ext cx="97837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Rectangle 41"/>
          <p:cNvSpPr/>
          <p:nvPr/>
        </p:nvSpPr>
        <p:spPr>
          <a:xfrm>
            <a:off x="1188720" y="4800600"/>
            <a:ext cx="91080" cy="566640"/>
          </a:xfrm>
          <a:prstGeom prst="rect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Oval 42"/>
          <p:cNvSpPr/>
          <p:nvPr/>
        </p:nvSpPr>
        <p:spPr>
          <a:xfrm>
            <a:off x="567000" y="4837320"/>
            <a:ext cx="493560" cy="49356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43"/>
          <p:cNvSpPr/>
          <p:nvPr/>
        </p:nvSpPr>
        <p:spPr>
          <a:xfrm>
            <a:off x="1417320" y="480060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Blender Yürütücü → Eklenti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44"/>
          <p:cNvSpPr/>
          <p:nvPr/>
        </p:nvSpPr>
        <p:spPr>
          <a:xfrm>
            <a:off x="5440680" y="4800600"/>
            <a:ext cx="5394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HTTP POST (port 8766)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45"/>
          <p:cNvSpPr/>
          <p:nvPr/>
        </p:nvSpPr>
        <p:spPr>
          <a:xfrm>
            <a:off x="795600" y="5330880"/>
            <a:ext cx="27720" cy="118440"/>
          </a:xfrm>
          <a:prstGeom prst="rect">
            <a:avLst/>
          </a:prstGeom>
          <a:solidFill>
            <a:srgbClr val="C4D2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Rectangle 46"/>
          <p:cNvSpPr/>
          <p:nvPr/>
        </p:nvSpPr>
        <p:spPr>
          <a:xfrm>
            <a:off x="1188720" y="5449680"/>
            <a:ext cx="97837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Rectangle 47"/>
          <p:cNvSpPr/>
          <p:nvPr/>
        </p:nvSpPr>
        <p:spPr>
          <a:xfrm>
            <a:off x="1188720" y="5449680"/>
            <a:ext cx="91080" cy="56664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Oval 48"/>
          <p:cNvSpPr/>
          <p:nvPr/>
        </p:nvSpPr>
        <p:spPr>
          <a:xfrm>
            <a:off x="567000" y="5486400"/>
            <a:ext cx="493560" cy="493560"/>
          </a:xfrm>
          <a:prstGeom prst="ellipse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49"/>
          <p:cNvSpPr/>
          <p:nvPr/>
        </p:nvSpPr>
        <p:spPr>
          <a:xfrm>
            <a:off x="1417320" y="544968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Eklenti → Blender Sahnesi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50"/>
          <p:cNvSpPr/>
          <p:nvPr/>
        </p:nvSpPr>
        <p:spPr>
          <a:xfrm>
            <a:off x="5440680" y="5449680"/>
            <a:ext cx="5394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A6B7B"/>
                </a:solidFill>
                <a:effectLst/>
                <a:uFillTx/>
                <a:latin typeface="Calibri"/>
              </a:rPr>
              <a:t>oda + mobilya inşa → sonuç sahnesi + durum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2A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Oval 2"/>
          <p:cNvSpPr/>
          <p:nvPr/>
        </p:nvSpPr>
        <p:spPr>
          <a:xfrm>
            <a:off x="8229600" y="-2286000"/>
            <a:ext cx="6400440" cy="6400440"/>
          </a:xfrm>
          <a:prstGeom prst="ellipse">
            <a:avLst/>
          </a:prstGeom>
          <a:solidFill>
            <a:srgbClr val="1E5F9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Oval 3"/>
          <p:cNvSpPr/>
          <p:nvPr/>
        </p:nvSpPr>
        <p:spPr>
          <a:xfrm>
            <a:off x="-1828800" y="3657600"/>
            <a:ext cx="5028840" cy="5028840"/>
          </a:xfrm>
          <a:prstGeom prst="ellipse">
            <a:avLst/>
          </a:prstGeom>
          <a:solidFill>
            <a:srgbClr val="14396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Rectangle 4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5"/>
          <p:cNvSpPr/>
          <p:nvPr/>
        </p:nvSpPr>
        <p:spPr>
          <a:xfrm>
            <a:off x="822960" y="214884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Teşekkür Ederiz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6"/>
          <p:cNvSpPr/>
          <p:nvPr/>
        </p:nvSpPr>
        <p:spPr>
          <a:xfrm>
            <a:off x="868680" y="3383280"/>
            <a:ext cx="3657240" cy="37800"/>
          </a:xfrm>
          <a:prstGeom prst="rect">
            <a:avLst/>
          </a:prstGeom>
          <a:solidFill>
            <a:srgbClr val="F2A5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7"/>
          <p:cNvSpPr/>
          <p:nvPr/>
        </p:nvSpPr>
        <p:spPr>
          <a:xfrm>
            <a:off x="841320" y="3611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D6E3F2"/>
                </a:solidFill>
                <a:effectLst/>
                <a:uFillTx/>
                <a:latin typeface="Calibri"/>
              </a:rPr>
              <a:t>Sorularınız için hazırız.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8"/>
          <p:cNvSpPr/>
          <p:nvPr/>
        </p:nvSpPr>
        <p:spPr>
          <a:xfrm>
            <a:off x="841320" y="475488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6A09E"/>
                </a:solidFill>
                <a:effectLst/>
                <a:uFillTx/>
                <a:latin typeface="Calibri"/>
              </a:rPr>
              <a:t>Yapay Zeka Destekli Agent ile 3B Modelleme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Burak Yüceler · Ali Batuhan Dağcı · Abdurrahman Hamza Gündoğdu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9D8EA"/>
                </a:solidFill>
                <a:effectLst/>
                <a:uFillTx/>
                <a:latin typeface="Calibri"/>
              </a:rPr>
              <a:t>Danışman: Prof. Dr. Şahin Uyaver  ·  Marmara Üniversitesi, 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2385</Words>
  <Application>Microsoft Office PowerPoint</Application>
  <PresentationFormat>Geniş ekran</PresentationFormat>
  <Paragraphs>384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ahamza</dc:creator>
  <dc:description>generated using python-pptx</dc:description>
  <cp:lastModifiedBy>a7112</cp:lastModifiedBy>
  <cp:revision>12</cp:revision>
  <dcterms:created xsi:type="dcterms:W3CDTF">2013-01-27T09:14:16Z</dcterms:created>
  <dcterms:modified xsi:type="dcterms:W3CDTF">2026-06-11T07:35:07Z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0x0101005481FCBEF872EB4CA22AE55CC303DC69</vt:lpwstr>
  </property>
  <property fmtid="{D5CDD505-2E9C-101B-9397-08002B2CF9AE}" pid="3" name="MMClips">
    <vt:i4>1</vt:i4>
  </property>
  <property fmtid="{D5CDD505-2E9C-101B-9397-08002B2CF9AE}" pid="4" name="PresentationFormat">
    <vt:lpwstr>Geniş ekran</vt:lpwstr>
  </property>
  <property fmtid="{D5CDD505-2E9C-101B-9397-08002B2CF9AE}" pid="5" name="Slides">
    <vt:i4>18</vt:i4>
  </property>
</Properties>
</file>